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6" r:id="rId4"/>
    <p:sldId id="258" r:id="rId5"/>
    <p:sldId id="272" r:id="rId6"/>
    <p:sldId id="271" r:id="rId7"/>
    <p:sldId id="273" r:id="rId8"/>
    <p:sldId id="267" r:id="rId9"/>
    <p:sldId id="276" r:id="rId10"/>
    <p:sldId id="269" r:id="rId11"/>
    <p:sldId id="259" r:id="rId12"/>
    <p:sldId id="274" r:id="rId13"/>
    <p:sldId id="275" r:id="rId14"/>
    <p:sldId id="277" r:id="rId15"/>
    <p:sldId id="278" r:id="rId16"/>
    <p:sldId id="270" r:id="rId17"/>
    <p:sldId id="260" r:id="rId18"/>
    <p:sldId id="261" r:id="rId19"/>
    <p:sldId id="262" r:id="rId20"/>
    <p:sldId id="263" r:id="rId21"/>
    <p:sldId id="279" r:id="rId22"/>
    <p:sldId id="264" r:id="rId23"/>
    <p:sldId id="280" r:id="rId24"/>
    <p:sldId id="281" r:id="rId25"/>
    <p:sldId id="282" r:id="rId26"/>
    <p:sldId id="283" r:id="rId27"/>
    <p:sldId id="284" r:id="rId28"/>
    <p:sldId id="265" r:id="rId29"/>
    <p:sldId id="285" r:id="rId30"/>
    <p:sldId id="266" r:id="rId31"/>
    <p:sldId id="268" r:id="rId32"/>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p>
            <a:fld id="{B0BCD6A2-202E-4473-B637-B3B08ECE75AA}" type="datetimeFigureOut">
              <a:rPr lang="id-ID" smtClean="0"/>
              <a:t>07/04/2025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1484792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B0BCD6A2-202E-4473-B637-B3B08ECE75AA}" type="datetimeFigureOut">
              <a:rPr lang="id-ID" smtClean="0"/>
              <a:t>07/04/2025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2799184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0BCD6A2-202E-4473-B637-B3B08ECE75AA}" type="datetimeFigureOut">
              <a:rPr lang="id-ID" smtClean="0"/>
              <a:t>07/04/2025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477037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p>
            <a:fld id="{B0BCD6A2-202E-4473-B637-B3B08ECE75AA}" type="datetimeFigureOut">
              <a:rPr lang="id-ID" smtClean="0"/>
              <a:t>07/04/2025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3076832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p>
            <a:fld id="{B0BCD6A2-202E-4473-B637-B3B08ECE75AA}" type="datetimeFigureOut">
              <a:rPr lang="id-ID" smtClean="0"/>
              <a:t>07/04/2025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3925166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p>
            <a:fld id="{B0BCD6A2-202E-4473-B637-B3B08ECE75AA}" type="datetimeFigureOut">
              <a:rPr lang="id-ID" smtClean="0"/>
              <a:t>07/04/2025</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3649177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BCD6A2-202E-4473-B637-B3B08ECE75AA}" type="datetimeFigureOut">
              <a:rPr lang="id-ID" smtClean="0"/>
              <a:t>07/04/2025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1631006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BCD6A2-202E-4473-B637-B3B08ECE75AA}" type="datetimeFigureOut">
              <a:rPr lang="id-ID" smtClean="0"/>
              <a:t>07/04/2025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833933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0BCD6A2-202E-4473-B637-B3B08ECE75AA}" type="datetimeFigureOut">
              <a:rPr lang="id-ID" smtClean="0"/>
              <a:t>07/04/2025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1346249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B0BCD6A2-202E-4473-B637-B3B08ECE75AA}" type="datetimeFigureOut">
              <a:rPr lang="id-ID" smtClean="0"/>
              <a:t>07/04/2025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3109053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fld id="{B0BCD6A2-202E-4473-B637-B3B08ECE75AA}" type="datetimeFigureOut">
              <a:rPr lang="id-ID" smtClean="0"/>
              <a:t>07/04/2025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56A9547-8A99-4E94-8B33-79B54287DD0C}" type="slidenum">
              <a:rPr lang="id-ID" smtClean="0"/>
              <a:t>‹#›</a:t>
            </a:fld>
            <a:endParaRPr lang="id-ID"/>
          </a:p>
        </p:txBody>
      </p:sp>
    </p:spTree>
    <p:extLst>
      <p:ext uri="{BB962C8B-B14F-4D97-AF65-F5344CB8AC3E}">
        <p14:creationId xmlns:p14="http://schemas.microsoft.com/office/powerpoint/2010/main" val="2277606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BCD6A2-202E-4473-B637-B3B08ECE75AA}" type="datetimeFigureOut">
              <a:rPr lang="id-ID" smtClean="0"/>
              <a:t>07/04/2025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6A9547-8A99-4E94-8B33-79B54287DD0C}" type="slidenum">
              <a:rPr lang="id-ID" smtClean="0"/>
              <a:t>‹#›</a:t>
            </a:fld>
            <a:endParaRPr lang="id-ID"/>
          </a:p>
        </p:txBody>
      </p:sp>
    </p:spTree>
    <p:extLst>
      <p:ext uri="{BB962C8B-B14F-4D97-AF65-F5344CB8AC3E}">
        <p14:creationId xmlns:p14="http://schemas.microsoft.com/office/powerpoint/2010/main" val="3071716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professionaldevelopment.ie/lean-six-sigma-dmaic-cycle" TargetMode="External"/><Relationship Id="rId2" Type="http://schemas.openxmlformats.org/officeDocument/2006/relationships/hyperlink" Target="https://id.wikipedia.org/wiki/Six_Sigma"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548680"/>
            <a:ext cx="7772400" cy="1470025"/>
          </a:xfrm>
        </p:spPr>
        <p:txBody>
          <a:bodyPr>
            <a:normAutofit/>
          </a:bodyPr>
          <a:lstStyle/>
          <a:p>
            <a:r>
              <a:rPr lang="id-ID" i="1" dirty="0" smtClean="0"/>
              <a:t>Penerapan Six Sigma Dalam Pengendalian Mutu </a:t>
            </a:r>
            <a:endParaRPr lang="id-ID" i="1" dirty="0"/>
          </a:p>
        </p:txBody>
      </p:sp>
      <p:sp>
        <p:nvSpPr>
          <p:cNvPr id="3" name="Subtitle 2"/>
          <p:cNvSpPr>
            <a:spLocks noGrp="1"/>
          </p:cNvSpPr>
          <p:nvPr>
            <p:ph type="subTitle" idx="1"/>
          </p:nvPr>
        </p:nvSpPr>
        <p:spPr>
          <a:xfrm>
            <a:off x="1371600" y="2420888"/>
            <a:ext cx="6400800" cy="3217912"/>
          </a:xfrm>
        </p:spPr>
        <p:txBody>
          <a:bodyPr>
            <a:normAutofit fontScale="62500" lnSpcReduction="20000"/>
          </a:bodyPr>
          <a:lstStyle/>
          <a:p>
            <a:r>
              <a:rPr lang="id-ID" dirty="0" smtClean="0"/>
              <a:t>Dosen Pengampu Mata Kuliah:</a:t>
            </a:r>
          </a:p>
          <a:p>
            <a:r>
              <a:rPr lang="id-ID" b="1" dirty="0" smtClean="0"/>
              <a:t>STEVEN YULANDO, M.PD</a:t>
            </a:r>
          </a:p>
          <a:p>
            <a:endParaRPr lang="id-ID" b="1" dirty="0"/>
          </a:p>
          <a:p>
            <a:endParaRPr lang="id-ID" b="1" dirty="0" smtClean="0"/>
          </a:p>
          <a:p>
            <a:r>
              <a:rPr lang="id-ID" dirty="0" smtClean="0"/>
              <a:t>Penyusun:</a:t>
            </a:r>
          </a:p>
          <a:p>
            <a:r>
              <a:rPr lang="id-ID" dirty="0" smtClean="0"/>
              <a:t>Joe Simorangkir</a:t>
            </a:r>
          </a:p>
          <a:p>
            <a:r>
              <a:rPr lang="id-ID" dirty="0" smtClean="0"/>
              <a:t>2330202100027</a:t>
            </a:r>
          </a:p>
          <a:p>
            <a:r>
              <a:rPr lang="id-ID" dirty="0" smtClean="0"/>
              <a:t>Program Studi:</a:t>
            </a:r>
            <a:r>
              <a:rPr lang="id-ID" i="1" dirty="0" smtClean="0"/>
              <a:t>Pendidikan Teknik Mesin</a:t>
            </a:r>
          </a:p>
          <a:p>
            <a:r>
              <a:rPr lang="id-ID" dirty="0" smtClean="0"/>
              <a:t>Universitas Palangka Raya</a:t>
            </a:r>
          </a:p>
          <a:p>
            <a:r>
              <a:rPr lang="id-ID" dirty="0" smtClean="0"/>
              <a:t>2025</a:t>
            </a:r>
            <a:endParaRPr lang="id-ID" dirty="0"/>
          </a:p>
        </p:txBody>
      </p:sp>
    </p:spTree>
    <p:extLst>
      <p:ext uri="{BB962C8B-B14F-4D97-AF65-F5344CB8AC3E}">
        <p14:creationId xmlns:p14="http://schemas.microsoft.com/office/powerpoint/2010/main" val="2758223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Pendahulun</a:t>
            </a:r>
            <a:endParaRPr lang="id-ID" dirty="0"/>
          </a:p>
        </p:txBody>
      </p:sp>
      <p:sp>
        <p:nvSpPr>
          <p:cNvPr id="3" name="Content Placeholder 2"/>
          <p:cNvSpPr>
            <a:spLocks noGrp="1"/>
          </p:cNvSpPr>
          <p:nvPr>
            <p:ph idx="1"/>
          </p:nvPr>
        </p:nvSpPr>
        <p:spPr>
          <a:xfrm>
            <a:off x="467544" y="1340768"/>
            <a:ext cx="8229600" cy="5112568"/>
          </a:xfrm>
        </p:spPr>
        <p:txBody>
          <a:bodyPr>
            <a:normAutofit fontScale="32500" lnSpcReduction="20000"/>
          </a:bodyPr>
          <a:lstStyle/>
          <a:p>
            <a:r>
              <a:rPr lang="id-ID" sz="8600" dirty="0" smtClean="0"/>
              <a:t>Latar belakang</a:t>
            </a:r>
          </a:p>
          <a:p>
            <a:pPr marL="514350" indent="-514350" algn="just">
              <a:buFont typeface="+mj-lt"/>
              <a:buAutoNum type="arabicPeriod"/>
            </a:pPr>
            <a:r>
              <a:rPr lang="id-ID" sz="6000" dirty="0"/>
              <a:t>Pengendalian mutu adalah proses untuk memastikan bahwa produk atau layanan yang dihasilkan memenuhi standar kualitas yang </a:t>
            </a:r>
            <a:r>
              <a:rPr lang="id-ID" sz="6000" dirty="0" smtClean="0"/>
              <a:t>ditetapkan. </a:t>
            </a:r>
          </a:p>
          <a:p>
            <a:pPr marL="514350" indent="-514350" algn="just">
              <a:buFont typeface="+mj-lt"/>
              <a:buAutoNum type="arabicPeriod"/>
            </a:pPr>
            <a:r>
              <a:rPr lang="id-ID" sz="6000" dirty="0" smtClean="0"/>
              <a:t>Dalam </a:t>
            </a:r>
            <a:r>
              <a:rPr lang="id-ID" sz="6000" dirty="0"/>
              <a:t>dunia industri, pengendalian mutu bertujuan untuk mengurangi cacat, meningkatkan efisiensi, dan memastikan kepuasan </a:t>
            </a:r>
            <a:r>
              <a:rPr lang="id-ID" sz="6000" dirty="0" smtClean="0"/>
              <a:t>pelanggan.</a:t>
            </a:r>
          </a:p>
          <a:p>
            <a:pPr marL="514350" indent="-514350" algn="just">
              <a:buFont typeface="+mj-lt"/>
              <a:buAutoNum type="arabicPeriod"/>
            </a:pPr>
            <a:r>
              <a:rPr lang="id-ID" sz="6000" dirty="0" smtClean="0"/>
              <a:t>Salah </a:t>
            </a:r>
            <a:r>
              <a:rPr lang="id-ID" sz="6000" dirty="0"/>
              <a:t>satu metode yang terbukti efektif dalam pengendalian mutu adalah Six Sigma, yang menggunakan pendekatan berbasis data dan statistik untuk memperbaiki proses </a:t>
            </a:r>
            <a:r>
              <a:rPr lang="id-ID" sz="6000" dirty="0" smtClean="0"/>
              <a:t>produksi.</a:t>
            </a:r>
          </a:p>
          <a:p>
            <a:pPr marL="514350" indent="-514350" algn="just">
              <a:buFont typeface="+mj-lt"/>
              <a:buAutoNum type="arabicPeriod"/>
            </a:pPr>
            <a:r>
              <a:rPr lang="id-ID" sz="6000" dirty="0" smtClean="0"/>
              <a:t>Metode </a:t>
            </a:r>
            <a:r>
              <a:rPr lang="id-ID" sz="6000" dirty="0"/>
              <a:t>Six Sigma memiliki tahapan sistematis yang disebut DMAIC (Define, Measure, Analyze, Improve, Control), yang membantu dalam memecahkan masalah kualitas secara bertahap dan </a:t>
            </a:r>
            <a:r>
              <a:rPr lang="id-ID" sz="6000" dirty="0" smtClean="0"/>
              <a:t>terstruktur.</a:t>
            </a:r>
          </a:p>
          <a:p>
            <a:pPr marL="514350" indent="-514350" algn="just">
              <a:buFont typeface="+mj-lt"/>
              <a:buAutoNum type="arabicPeriod"/>
            </a:pPr>
            <a:r>
              <a:rPr lang="id-ID" sz="6000" dirty="0" smtClean="0"/>
              <a:t>Dengan </a:t>
            </a:r>
            <a:r>
              <a:rPr lang="id-ID" sz="6000" dirty="0"/>
              <a:t>mempelajari dan membahas metode Six Sigma, mahasiswa dapat memperluas pemahaman tentang teknik pengendalian mutu yang digunakan di </a:t>
            </a:r>
            <a:r>
              <a:rPr lang="id-ID" sz="6000" dirty="0" smtClean="0"/>
              <a:t>industri.</a:t>
            </a:r>
          </a:p>
          <a:p>
            <a:pPr marL="514350" indent="-514350" algn="just">
              <a:buFont typeface="+mj-lt"/>
              <a:buAutoNum type="arabicPeriod"/>
            </a:pPr>
            <a:r>
              <a:rPr lang="id-ID" sz="6000" dirty="0" smtClean="0"/>
              <a:t>Pemahaman </a:t>
            </a:r>
            <a:r>
              <a:rPr lang="id-ID" sz="6000" dirty="0"/>
              <a:t>ini juga akan berguna bagi mahasiswa sebagai bekal untuk diterapkan dalam dunia kerja ataupun usaha pribadi di masa mendatang.</a:t>
            </a:r>
            <a:endParaRPr lang="id-ID" sz="6000" dirty="0"/>
          </a:p>
        </p:txBody>
      </p:sp>
    </p:spTree>
    <p:extLst>
      <p:ext uri="{BB962C8B-B14F-4D97-AF65-F5344CB8AC3E}">
        <p14:creationId xmlns:p14="http://schemas.microsoft.com/office/powerpoint/2010/main" val="2786604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052736"/>
            <a:ext cx="8229600" cy="4525963"/>
          </a:xfrm>
        </p:spPr>
        <p:txBody>
          <a:bodyPr>
            <a:normAutofit fontScale="92500" lnSpcReduction="20000"/>
          </a:bodyPr>
          <a:lstStyle/>
          <a:p>
            <a:r>
              <a:rPr lang="id-ID" dirty="0" smtClean="0"/>
              <a:t>Tujuan presentasi</a:t>
            </a:r>
          </a:p>
          <a:p>
            <a:pPr marL="514350" indent="-514350">
              <a:buFont typeface="+mj-lt"/>
              <a:buAutoNum type="arabicPeriod"/>
            </a:pPr>
            <a:r>
              <a:rPr lang="id-ID" dirty="0" smtClean="0"/>
              <a:t>Memahami </a:t>
            </a:r>
            <a:r>
              <a:rPr lang="id-ID" dirty="0"/>
              <a:t>konsep dasar pengendalian mutu dan metode Six Sigma </a:t>
            </a:r>
            <a:r>
              <a:rPr lang="id-ID"/>
              <a:t>secara </a:t>
            </a:r>
            <a:r>
              <a:rPr lang="id-ID" smtClean="0"/>
              <a:t>menyeluruh.</a:t>
            </a:r>
          </a:p>
          <a:p>
            <a:pPr marL="514350" indent="-514350">
              <a:buFont typeface="+mj-lt"/>
              <a:buAutoNum type="arabicPeriod"/>
            </a:pPr>
            <a:r>
              <a:rPr lang="id-ID" smtClean="0"/>
              <a:t>Menjelaskan </a:t>
            </a:r>
            <a:r>
              <a:rPr lang="id-ID" dirty="0"/>
              <a:t>tahapan dalam metode Six Sigma (DMAIC) </a:t>
            </a:r>
            <a:r>
              <a:rPr lang="id-ID"/>
              <a:t>dan </a:t>
            </a:r>
            <a:r>
              <a:rPr lang="id-ID" smtClean="0"/>
              <a:t>manfaatnya.</a:t>
            </a:r>
          </a:p>
          <a:p>
            <a:pPr marL="514350" indent="-514350">
              <a:buFont typeface="+mj-lt"/>
              <a:buAutoNum type="arabicPeriod"/>
            </a:pPr>
            <a:r>
              <a:rPr lang="id-ID" dirty="0" smtClean="0"/>
              <a:t>Menjadikan </a:t>
            </a:r>
            <a:r>
              <a:rPr lang="id-ID" dirty="0"/>
              <a:t>materi ini sebagai acuan untuk menyelesaikan tugas perkuliahan yang berkaitan dengan pengendalian </a:t>
            </a:r>
            <a:r>
              <a:rPr lang="id-ID" dirty="0" smtClean="0"/>
              <a:t>mutu.</a:t>
            </a:r>
          </a:p>
          <a:p>
            <a:pPr marL="514350" indent="-514350">
              <a:buFont typeface="+mj-lt"/>
              <a:buAutoNum type="arabicPeriod"/>
            </a:pPr>
            <a:r>
              <a:rPr lang="id-ID" dirty="0" smtClean="0"/>
              <a:t>Memberikan </a:t>
            </a:r>
            <a:r>
              <a:rPr lang="id-ID" dirty="0"/>
              <a:t>gambaran nyata bagaimana metode ini dapat diterapkan dalam dunia kerja dan bisnis.</a:t>
            </a:r>
          </a:p>
        </p:txBody>
      </p:sp>
    </p:spTree>
    <p:extLst>
      <p:ext uri="{BB962C8B-B14F-4D97-AF65-F5344CB8AC3E}">
        <p14:creationId xmlns:p14="http://schemas.microsoft.com/office/powerpoint/2010/main" val="2759794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Konsep dasar six sigma</a:t>
            </a:r>
            <a:endParaRPr lang="id-ID" dirty="0"/>
          </a:p>
        </p:txBody>
      </p:sp>
      <p:sp>
        <p:nvSpPr>
          <p:cNvPr id="3" name="Content Placeholder 2"/>
          <p:cNvSpPr>
            <a:spLocks noGrp="1"/>
          </p:cNvSpPr>
          <p:nvPr>
            <p:ph idx="1"/>
          </p:nvPr>
        </p:nvSpPr>
        <p:spPr>
          <a:xfrm>
            <a:off x="457200" y="1268760"/>
            <a:ext cx="8229600" cy="4857403"/>
          </a:xfrm>
        </p:spPr>
        <p:txBody>
          <a:bodyPr>
            <a:normAutofit fontScale="70000" lnSpcReduction="20000"/>
          </a:bodyPr>
          <a:lstStyle/>
          <a:p>
            <a:r>
              <a:rPr lang="id-ID" dirty="0" smtClean="0"/>
              <a:t>Pengertian six sigma</a:t>
            </a:r>
          </a:p>
          <a:p>
            <a:pPr marL="0" indent="0" algn="just">
              <a:buNone/>
            </a:pPr>
            <a:r>
              <a:rPr lang="id-ID" dirty="0" smtClean="0"/>
              <a:t>Six Sigma adalah metode pengendalian kualitas yang bertujuan untuk mengurangi variasi dan meningkatkan kualitas melalui penggunaan alat statistik. Nama Six Sigma berasal dari kata "six" yang berarti enam (6) dan "sigma," yang merujuk pada satuan standar deviasi (</a:t>
            </a:r>
            <a:r>
              <a:rPr lang="el-GR" dirty="0" smtClean="0"/>
              <a:t>σ), </a:t>
            </a:r>
            <a:r>
              <a:rPr lang="id-ID" dirty="0" smtClean="0"/>
              <a:t>sehingga sering disimbolkan sebagai 6</a:t>
            </a:r>
            <a:r>
              <a:rPr lang="el-GR" dirty="0" smtClean="0"/>
              <a:t>σ. </a:t>
            </a:r>
            <a:r>
              <a:rPr lang="id-ID" dirty="0" smtClean="0"/>
              <a:t>Metode ini berfokus pada manajemen produksi dengan tujuan meningkatkan kualitas produksi melalui perbaikan proses, pengurangan cacat produk, serta meminimalkan pemborosan untuk menghasilkan produk atau layanan yang lebih baik, lebih murah, dan lebih cepat. Six Sigma dirancang untuk menggantikan metode TQM (Total Quality Management), meskipun konsepnya menggabungkan elemen TQM dengan SPC (Statistical Process Control). </a:t>
            </a:r>
          </a:p>
          <a:p>
            <a:pPr marL="0" indent="0" algn="just">
              <a:buNone/>
            </a:pPr>
            <a:r>
              <a:rPr lang="id-ID" dirty="0" smtClean="0"/>
              <a:t>Keberhasilan penerapan Six Sigma sangat bergantung pada kemampuan untuk mengidentifikasi dan menyelesaikan masalah secara efektif</a:t>
            </a:r>
          </a:p>
          <a:p>
            <a:pPr marL="0" indent="0">
              <a:buNone/>
            </a:pPr>
            <a:endParaRPr lang="id-ID" dirty="0" smtClean="0"/>
          </a:p>
        </p:txBody>
      </p:sp>
    </p:spTree>
    <p:extLst>
      <p:ext uri="{BB962C8B-B14F-4D97-AF65-F5344CB8AC3E}">
        <p14:creationId xmlns:p14="http://schemas.microsoft.com/office/powerpoint/2010/main" val="853518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Arti six sigma itu apan sihh?</a:t>
            </a:r>
            <a:endParaRPr lang="id-ID" dirty="0"/>
          </a:p>
        </p:txBody>
      </p:sp>
      <p:sp>
        <p:nvSpPr>
          <p:cNvPr id="3" name="Content Placeholder 2"/>
          <p:cNvSpPr>
            <a:spLocks noGrp="1"/>
          </p:cNvSpPr>
          <p:nvPr>
            <p:ph idx="1"/>
          </p:nvPr>
        </p:nvSpPr>
        <p:spPr>
          <a:xfrm>
            <a:off x="457200" y="1268760"/>
            <a:ext cx="8229600" cy="4857403"/>
          </a:xfrm>
        </p:spPr>
        <p:txBody>
          <a:bodyPr>
            <a:normAutofit fontScale="70000" lnSpcReduction="20000"/>
          </a:bodyPr>
          <a:lstStyle/>
          <a:p>
            <a:pPr marL="0" indent="0" algn="just">
              <a:buNone/>
            </a:pPr>
            <a:r>
              <a:rPr lang="id-ID" dirty="0" smtClean="0"/>
              <a:t>Sigma (</a:t>
            </a:r>
            <a:r>
              <a:rPr lang="el-GR" dirty="0" smtClean="0"/>
              <a:t>σ) </a:t>
            </a:r>
            <a:r>
              <a:rPr lang="id-ID" dirty="0" smtClean="0"/>
              <a:t>adalah simbol dalam statistik yang mewakili deviasi standar (standard deviation), yaitu ukuran seberapa jauh data menyebar dari rata-rata dalam suatu proses.</a:t>
            </a:r>
          </a:p>
          <a:p>
            <a:pPr marL="0" indent="0" algn="just">
              <a:buNone/>
            </a:pPr>
            <a:r>
              <a:rPr lang="id-ID" dirty="0" smtClean="0"/>
              <a:t>Six Sigma berarti enam kali deviasi standar dari rata-rata, yang menunjukkan bahwa kemungkinan produk cacat sangat kecil.</a:t>
            </a:r>
          </a:p>
          <a:p>
            <a:pPr marL="0" indent="0" algn="just">
              <a:buNone/>
            </a:pPr>
            <a:r>
              <a:rPr lang="id-ID" dirty="0" smtClean="0"/>
              <a:t>klau diibartkan dalam angka, Six Sigma berarti hanya 3,4 cacat per satu juta peluang (DPMO - Defects Per Million Opportunities), atau sekitar 99,99966% tingkat keberhasilan.</a:t>
            </a:r>
          </a:p>
          <a:p>
            <a:pPr marL="0" indent="0" algn="just">
              <a:buNone/>
            </a:pPr>
            <a:r>
              <a:rPr lang="id-ID" dirty="0" smtClean="0"/>
              <a:t>Konsepnya dalam Pengendalian Mutu yaitu: jika </a:t>
            </a:r>
            <a:r>
              <a:rPr lang="id-ID" i="1" dirty="0" smtClean="0"/>
              <a:t>suatu proses berada pada 1 Sigma</a:t>
            </a:r>
            <a:r>
              <a:rPr lang="id-ID" dirty="0" smtClean="0"/>
              <a:t>, itu berarti banyak produk cacat (680.000 cacat per juta).Jika proses meningkat ke 3 Sigma, sekitar 93,32% produk sesuai standar, tapi masih ada 66.800 cacat per juta.Pada 6 Sigma, cacat turun drastis menjadi 3,4 per juta, yang hampir mendekati kesempurnaan.</a:t>
            </a:r>
          </a:p>
          <a:p>
            <a:pPr marL="0" indent="0" algn="just">
              <a:buNone/>
            </a:pPr>
            <a:r>
              <a:rPr lang="id-ID" dirty="0" smtClean="0"/>
              <a:t>Kesimpulan Six Sigma bukan hanya metode, tetapi juga target kualitas tinggi yang berusaha dicapai dalam produksi atau proses industri.</a:t>
            </a:r>
            <a:endParaRPr lang="id-ID" dirty="0"/>
          </a:p>
        </p:txBody>
      </p:sp>
    </p:spTree>
    <p:extLst>
      <p:ext uri="{BB962C8B-B14F-4D97-AF65-F5344CB8AC3E}">
        <p14:creationId xmlns:p14="http://schemas.microsoft.com/office/powerpoint/2010/main" val="4211099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404664"/>
            <a:ext cx="8568952" cy="6048672"/>
          </a:xfrm>
        </p:spPr>
        <p:txBody>
          <a:bodyPr>
            <a:normAutofit fontScale="70000" lnSpcReduction="20000"/>
          </a:bodyPr>
          <a:lstStyle/>
          <a:p>
            <a:r>
              <a:rPr lang="id-ID" dirty="0" smtClean="0"/>
              <a:t>Sejarah dan perkembangannya</a:t>
            </a:r>
          </a:p>
          <a:p>
            <a:pPr marL="0" indent="0" algn="just">
              <a:buNone/>
            </a:pPr>
            <a:r>
              <a:rPr lang="id-ID" i="1" dirty="0" smtClean="0"/>
              <a:t>Carl Frederick Gauss (1777-1885</a:t>
            </a:r>
            <a:r>
              <a:rPr lang="id-ID" dirty="0" smtClean="0"/>
              <a:t>) adalah orang yang pertama kali memperkenalkan </a:t>
            </a:r>
            <a:r>
              <a:rPr lang="id-ID" b="1" i="1" dirty="0" smtClean="0"/>
              <a:t>konsep kurva normal </a:t>
            </a:r>
            <a:r>
              <a:rPr lang="id-ID" dirty="0" smtClean="0"/>
              <a:t>dalam bidang statistik. Konsep ini kemudian dikembangkan oleh </a:t>
            </a:r>
            <a:r>
              <a:rPr lang="id-ID" i="1" dirty="0" smtClean="0"/>
              <a:t>Walter Shewhart </a:t>
            </a:r>
            <a:r>
              <a:rPr lang="id-ID" dirty="0" smtClean="0"/>
              <a:t>pada tahun 1920 yang menjelaskan bahwa </a:t>
            </a:r>
            <a:r>
              <a:rPr lang="id-ID" i="1" dirty="0" smtClean="0"/>
              <a:t>3 sigma dari nilai rata-rata mengindikasikan perlunya perbaikan dalam sebuah proses</a:t>
            </a:r>
            <a:r>
              <a:rPr lang="id-ID" dirty="0" smtClean="0"/>
              <a:t>.</a:t>
            </a:r>
          </a:p>
          <a:p>
            <a:pPr marL="0" indent="0" algn="just">
              <a:buNone/>
            </a:pPr>
            <a:r>
              <a:rPr lang="id-ID" dirty="0" smtClean="0"/>
              <a:t>Pada akhir tahun 1970, </a:t>
            </a:r>
            <a:r>
              <a:rPr lang="id-ID" i="1" dirty="0" smtClean="0"/>
              <a:t>Dr. Mikel Harry</a:t>
            </a:r>
            <a:r>
              <a:rPr lang="id-ID" dirty="0" smtClean="0"/>
              <a:t>, seorang insinyur senior pada Motorola's Government Electronics Group (GEG) memulai percobaan untuk melakukan penyelesaian masalah dengan menggunakan analisis statistik.Dengan menggunakan cara tsb, GEG mulai menunjukkan peningkatan yang dramatis: produk didesain dan diproduksi lebih cepat dengan biaya yang lebih murah. Metode tersebut kemudian ia tuliskan dalam sebuah makalah berjudul </a:t>
            </a:r>
            <a:r>
              <a:rPr lang="id-ID" i="1" dirty="0" smtClean="0"/>
              <a:t>"The Strategic Vision for Accelerating Six Sigma Within Motorola"</a:t>
            </a:r>
            <a:r>
              <a:rPr lang="id-ID" dirty="0" smtClean="0"/>
              <a:t> Dr. Mikel Harry kemudian dibantu oleh Richard Schroeder, mantan eksekutif Motorola, menyusun suatu konsep perubahan manajemen yang didasarkan pada data.</a:t>
            </a:r>
          </a:p>
          <a:p>
            <a:pPr marL="0" indent="0" algn="just">
              <a:buNone/>
            </a:pPr>
            <a:r>
              <a:rPr lang="id-ID" dirty="0" smtClean="0"/>
              <a:t>Hasil dari kerja sama tersebut adalah sebuah alat pengukuran kualitas yang sederhana yang kemudian menjadi filosofi kemajuan bisnis, yang dikenal dengan nama </a:t>
            </a:r>
            <a:r>
              <a:rPr lang="id-ID" b="1" i="1" dirty="0" smtClean="0"/>
              <a:t>Six Sigma</a:t>
            </a:r>
            <a:r>
              <a:rPr lang="id-ID" dirty="0" smtClean="0"/>
              <a:t>. Six sigma dapat dikatakan merupakan tools yang lebih ketat dari 3 sigma.</a:t>
            </a:r>
            <a:endParaRPr lang="id-ID" dirty="0"/>
          </a:p>
        </p:txBody>
      </p:sp>
    </p:spTree>
    <p:extLst>
      <p:ext uri="{BB962C8B-B14F-4D97-AF65-F5344CB8AC3E}">
        <p14:creationId xmlns:p14="http://schemas.microsoft.com/office/powerpoint/2010/main" val="3371018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8424936" cy="6192688"/>
          </a:xfrm>
        </p:spPr>
        <p:txBody>
          <a:bodyPr>
            <a:noAutofit/>
          </a:bodyPr>
          <a:lstStyle/>
          <a:p>
            <a:r>
              <a:rPr lang="id-ID" sz="1900" dirty="0" smtClean="0"/>
              <a:t>Filsofi dan Prinsip Dasar Six sigma</a:t>
            </a:r>
          </a:p>
          <a:p>
            <a:pPr marL="0" indent="0" algn="just">
              <a:buNone/>
            </a:pPr>
            <a:r>
              <a:rPr lang="id-ID" sz="1900" dirty="0" smtClean="0"/>
              <a:t>Six Sigma berfokus pada pengendalian kualitas berbasis data dan statistik dengan tujuan:Mengurangi cacat produksi hingga mendekati nol (hanya 3,4 cacat per juta peluang).Meningkatkan kepuasan pelanggan dengan menghasilkan produk yang lebih baik dan lebih konsisten. Mengoptimalkan proses produksi agar lebih efisien dan hemat biaya.</a:t>
            </a:r>
          </a:p>
          <a:p>
            <a:pPr marL="0" indent="0">
              <a:buNone/>
            </a:pPr>
            <a:r>
              <a:rPr lang="id-ID" sz="1900" dirty="0" smtClean="0"/>
              <a:t>Prinsip Dasar Six Sigma (Critical Success Factors)</a:t>
            </a:r>
          </a:p>
          <a:p>
            <a:r>
              <a:rPr lang="id-ID" sz="1900" dirty="0" smtClean="0"/>
              <a:t>Fokus pada Pelanggan (Customer-Centric Approach)</a:t>
            </a:r>
          </a:p>
          <a:p>
            <a:r>
              <a:rPr lang="id-ID" sz="1900" dirty="0" smtClean="0"/>
              <a:t>Kualitas didefinisikan berdasarkan kebutuhan pelanggan.</a:t>
            </a:r>
          </a:p>
          <a:p>
            <a:r>
              <a:rPr lang="id-ID" sz="1900" dirty="0" smtClean="0"/>
              <a:t>Berbasis Data &amp; Fakta (Data-Driven Decision Making)</a:t>
            </a:r>
          </a:p>
          <a:p>
            <a:r>
              <a:rPr lang="id-ID" sz="1900" dirty="0" smtClean="0"/>
              <a:t>Menggunakan statistik dan analisis data untuk mengambil keputusan.</a:t>
            </a:r>
          </a:p>
          <a:p>
            <a:r>
              <a:rPr lang="id-ID" sz="1900" dirty="0" smtClean="0"/>
              <a:t>Peningkatan Proses Berkelanjutan (Continuous Improvement)</a:t>
            </a:r>
          </a:p>
          <a:p>
            <a:r>
              <a:rPr lang="id-ID" sz="1900" dirty="0" smtClean="0"/>
              <a:t>Mengidentifikasi masalah, mencari akar penyebabnya, dan melakukan perbaikan berkelanjutan.</a:t>
            </a:r>
          </a:p>
          <a:p>
            <a:r>
              <a:rPr lang="id-ID" sz="1900" dirty="0" smtClean="0"/>
              <a:t>Pengelolaan Variasi &amp; Mengurangi Cacat (Variation Reduction) Kolaborasi &amp; Tim yang Kuat (Strong Teamwork &amp; Leadership)Menggunakan tim terlatih dengan peran khusus dalam Six Sigma (ada tingkatan per timnya sesuai keahliannya).</a:t>
            </a:r>
          </a:p>
          <a:p>
            <a:pPr marL="0" indent="0">
              <a:buNone/>
            </a:pPr>
            <a:r>
              <a:rPr lang="id-ID" sz="1900" dirty="0" smtClean="0"/>
              <a:t>Fleksibilitas &amp; Adaptasi (Process Optimization &amp; Adaptability)Dapat diterapkan di berbagai industri, tidak hanya manufaktur.</a:t>
            </a:r>
            <a:endParaRPr lang="id-ID" sz="1900" dirty="0"/>
          </a:p>
        </p:txBody>
      </p:sp>
    </p:spTree>
    <p:extLst>
      <p:ext uri="{BB962C8B-B14F-4D97-AF65-F5344CB8AC3E}">
        <p14:creationId xmlns:p14="http://schemas.microsoft.com/office/powerpoint/2010/main" val="491170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395536" y="620688"/>
            <a:ext cx="7772400" cy="1470025"/>
          </a:xfrm>
        </p:spPr>
        <p:txBody>
          <a:bodyPr/>
          <a:lstStyle/>
          <a:p>
            <a:r>
              <a:rPr lang="id-ID" dirty="0" smtClean="0"/>
              <a:t>Tahapan Six Sigma</a:t>
            </a:r>
            <a:endParaRPr lang="id-ID" dirty="0"/>
          </a:p>
        </p:txBody>
      </p:sp>
      <p:sp>
        <p:nvSpPr>
          <p:cNvPr id="5" name="Subtitle 4"/>
          <p:cNvSpPr>
            <a:spLocks noGrp="1"/>
          </p:cNvSpPr>
          <p:nvPr>
            <p:ph type="subTitle" idx="1"/>
          </p:nvPr>
        </p:nvSpPr>
        <p:spPr>
          <a:xfrm>
            <a:off x="1259632" y="3068960"/>
            <a:ext cx="6400800" cy="1752600"/>
          </a:xfrm>
        </p:spPr>
        <p:txBody>
          <a:bodyPr>
            <a:normAutofit fontScale="92500" lnSpcReduction="10000"/>
          </a:bodyPr>
          <a:lstStyle/>
          <a:p>
            <a:r>
              <a:rPr lang="id-ID" dirty="0" smtClean="0"/>
              <a:t>Menurut sumber yang saya cari di </a:t>
            </a:r>
            <a:r>
              <a:rPr lang="id-ID" i="1" dirty="0" smtClean="0"/>
              <a:t>wikipedia</a:t>
            </a:r>
            <a:r>
              <a:rPr lang="id-ID" dirty="0" smtClean="0"/>
              <a:t> ada dua tahapan, namun yang dibahas lebih banyak hanya 1 tahapan</a:t>
            </a:r>
            <a:endParaRPr lang="id-ID" dirty="0"/>
          </a:p>
        </p:txBody>
      </p:sp>
    </p:spTree>
    <p:extLst>
      <p:ext uri="{BB962C8B-B14F-4D97-AF65-F5344CB8AC3E}">
        <p14:creationId xmlns:p14="http://schemas.microsoft.com/office/powerpoint/2010/main" val="3468354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Gmabr secara sederhananya</a:t>
            </a:r>
            <a:endParaRPr lang="id-ID"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1556792"/>
            <a:ext cx="6912768" cy="4392488"/>
          </a:xfrm>
        </p:spPr>
      </p:pic>
    </p:spTree>
    <p:extLst>
      <p:ext uri="{BB962C8B-B14F-4D97-AF65-F5344CB8AC3E}">
        <p14:creationId xmlns:p14="http://schemas.microsoft.com/office/powerpoint/2010/main" val="71731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Siklus DMADV</a:t>
            </a:r>
            <a:endParaRPr lang="id-ID" dirty="0"/>
          </a:p>
        </p:txBody>
      </p:sp>
      <p:sp>
        <p:nvSpPr>
          <p:cNvPr id="3" name="Content Placeholder 2"/>
          <p:cNvSpPr>
            <a:spLocks noGrp="1"/>
          </p:cNvSpPr>
          <p:nvPr>
            <p:ph idx="1"/>
          </p:nvPr>
        </p:nvSpPr>
        <p:spPr/>
        <p:txBody>
          <a:bodyPr>
            <a:normAutofit fontScale="85000" lnSpcReduction="20000"/>
          </a:bodyPr>
          <a:lstStyle/>
          <a:p>
            <a:pPr marL="0" indent="0">
              <a:buNone/>
            </a:pPr>
            <a:r>
              <a:rPr lang="id-ID" dirty="0" smtClean="0"/>
              <a:t>Digunakan untuk merancang produk atau proses baru yang memenuhi standar kualitas tinggi:</a:t>
            </a:r>
          </a:p>
          <a:p>
            <a:r>
              <a:rPr lang="id-ID" dirty="0" smtClean="0"/>
              <a:t>Define (Menentukan): Menetapkan tujuan dan kebutuhan pelanggan.</a:t>
            </a:r>
          </a:p>
          <a:p>
            <a:r>
              <a:rPr lang="id-ID" dirty="0" smtClean="0"/>
              <a:t>Measure (Mengukur): Mengumpulkan data untuk memahami kebutuhan dan spesifikasi.</a:t>
            </a:r>
          </a:p>
          <a:p>
            <a:r>
              <a:rPr lang="id-ID" dirty="0" smtClean="0"/>
              <a:t>Analyze (Menganalisis): Mempelajari berbagai desain potensial yang sesuai dengan standar kualitas.</a:t>
            </a:r>
          </a:p>
          <a:p>
            <a:r>
              <a:rPr lang="id-ID" dirty="0" smtClean="0"/>
              <a:t>Design (Merancang): Mengembangkan desain yang optimal berdasarkan hasil analisis.</a:t>
            </a:r>
          </a:p>
          <a:p>
            <a:r>
              <a:rPr lang="id-ID" dirty="0" smtClean="0"/>
              <a:t>Verify (Memverifikasi): Menguji dan memastikan desain memenuhi standar kualitas sebelum diterapkan.</a:t>
            </a:r>
            <a:endParaRPr lang="id-ID" dirty="0"/>
          </a:p>
        </p:txBody>
      </p:sp>
    </p:spTree>
    <p:extLst>
      <p:ext uri="{BB962C8B-B14F-4D97-AF65-F5344CB8AC3E}">
        <p14:creationId xmlns:p14="http://schemas.microsoft.com/office/powerpoint/2010/main" val="2269082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smtClean="0"/>
              <a:t>Tahapan six sigma </a:t>
            </a:r>
            <a:br>
              <a:rPr lang="id-ID" dirty="0" smtClean="0"/>
            </a:br>
            <a:r>
              <a:rPr lang="id-ID" dirty="0" smtClean="0"/>
              <a:t>Siklus </a:t>
            </a:r>
            <a:r>
              <a:rPr lang="id-ID" i="1" dirty="0" smtClean="0"/>
              <a:t>DMAIC</a:t>
            </a:r>
            <a:br>
              <a:rPr lang="id-ID" i="1" dirty="0" smtClean="0"/>
            </a:br>
            <a:r>
              <a:rPr lang="id-ID" sz="3200" i="1" dirty="0" smtClean="0"/>
              <a:t>digunakan untuk meningkatkan proses yang sudah ada dengan cara mengurngi cacat dan variabilitas</a:t>
            </a:r>
            <a:endParaRPr lang="id-ID" dirty="0"/>
          </a:p>
        </p:txBody>
      </p:sp>
      <p:sp>
        <p:nvSpPr>
          <p:cNvPr id="3" name="Content Placeholder 2"/>
          <p:cNvSpPr>
            <a:spLocks noGrp="1"/>
          </p:cNvSpPr>
          <p:nvPr>
            <p:ph idx="1"/>
          </p:nvPr>
        </p:nvSpPr>
        <p:spPr>
          <a:xfrm>
            <a:off x="467544" y="1916832"/>
            <a:ext cx="8229600" cy="4752528"/>
          </a:xfrm>
        </p:spPr>
        <p:txBody>
          <a:bodyPr>
            <a:normAutofit fontScale="92500" lnSpcReduction="10000"/>
          </a:bodyPr>
          <a:lstStyle/>
          <a:p>
            <a:r>
              <a:rPr lang="id-ID" b="1" dirty="0" smtClean="0"/>
              <a:t>Define</a:t>
            </a:r>
            <a:r>
              <a:rPr lang="id-ID" dirty="0" smtClean="0"/>
              <a:t> (Menentukan) – Identifikasi masalah kualitas</a:t>
            </a:r>
          </a:p>
          <a:p>
            <a:pPr marL="0" indent="0">
              <a:buNone/>
            </a:pPr>
            <a:r>
              <a:rPr lang="id-ID" dirty="0" smtClean="0"/>
              <a:t>Pada tahapan pertama ini, yaitu mau apa yang dicapai dan mengidentifikasi masalah apa sihh yang terjadi dan ingin diselesaikan</a:t>
            </a:r>
          </a:p>
          <a:p>
            <a:pPr marL="0" indent="0">
              <a:buNone/>
            </a:pPr>
            <a:r>
              <a:rPr lang="id-ID" dirty="0" smtClean="0"/>
              <a:t>Contohnya: </a:t>
            </a:r>
            <a:r>
              <a:rPr lang="id-ID" sz="2000" i="1" dirty="0" smtClean="0"/>
              <a:t>konteknsnya berhubungan dengan jurusan saya</a:t>
            </a:r>
            <a:endParaRPr lang="id-ID" dirty="0" smtClean="0"/>
          </a:p>
          <a:p>
            <a:pPr marL="0" indent="0">
              <a:buNone/>
            </a:pPr>
            <a:r>
              <a:rPr lang="id-ID" dirty="0" smtClean="0"/>
              <a:t>Sebuah pabrik mesin menemukan bahwa banyak suku cadang mengalami cacat saat produksi. Tim Six Sigma menentukan tujuan: mengurangi tingkat cacat hingga di bawah 1%</a:t>
            </a:r>
            <a:endParaRPr lang="id-ID" dirty="0"/>
          </a:p>
        </p:txBody>
      </p:sp>
    </p:spTree>
    <p:extLst>
      <p:ext uri="{BB962C8B-B14F-4D97-AF65-F5344CB8AC3E}">
        <p14:creationId xmlns:p14="http://schemas.microsoft.com/office/powerpoint/2010/main" val="687629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idx="1"/>
          </p:nvPr>
        </p:nvSpPr>
        <p:spPr>
          <a:xfrm>
            <a:off x="323850" y="404813"/>
            <a:ext cx="8229600" cy="4525962"/>
          </a:xfrm>
        </p:spPr>
        <p:txBody>
          <a:bodyPr>
            <a:normAutofit fontScale="92500" lnSpcReduction="10000"/>
          </a:bodyPr>
          <a:lstStyle/>
          <a:p>
            <a:r>
              <a:rPr lang="id-ID" dirty="0" smtClean="0"/>
              <a:t>Measure (Mengukur) – Pengumpulan data dan analisis awal</a:t>
            </a:r>
          </a:p>
          <a:p>
            <a:pPr marL="0" indent="0">
              <a:buNone/>
            </a:pPr>
            <a:r>
              <a:rPr lang="id-ID" dirty="0" smtClean="0"/>
              <a:t>Pada tahapan ini beberapa data diambil baik dari data cacat produksi, data proses, data penyebab terjadinya cacat, data-data yang diambil bersifat nyata</a:t>
            </a:r>
          </a:p>
          <a:p>
            <a:pPr marL="0" indent="0">
              <a:buNone/>
            </a:pPr>
            <a:r>
              <a:rPr lang="id-ID" dirty="0" smtClean="0"/>
              <a:t>Contohnya:</a:t>
            </a:r>
          </a:p>
          <a:p>
            <a:pPr marL="0" indent="0" algn="just">
              <a:buNone/>
            </a:pPr>
            <a:r>
              <a:rPr lang="id-ID" dirty="0" smtClean="0"/>
              <a:t>Tim pengukur mengukur berapa persen suku cadang setiap harinya dan mencari tahu proses mana sihh yang menyebabkan cacat itu</a:t>
            </a:r>
          </a:p>
          <a:p>
            <a:endParaRPr lang="id-ID" dirty="0"/>
          </a:p>
        </p:txBody>
      </p:sp>
    </p:spTree>
    <p:extLst>
      <p:ext uri="{BB962C8B-B14F-4D97-AF65-F5344CB8AC3E}">
        <p14:creationId xmlns:p14="http://schemas.microsoft.com/office/powerpoint/2010/main" val="2690279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323850" y="476250"/>
            <a:ext cx="8229600" cy="4525963"/>
          </a:xfrm>
        </p:spPr>
        <p:txBody>
          <a:bodyPr>
            <a:normAutofit fontScale="85000" lnSpcReduction="20000"/>
          </a:bodyPr>
          <a:lstStyle/>
          <a:p>
            <a:r>
              <a:rPr lang="id-ID" dirty="0"/>
              <a:t>Analyze (Menganalisis) – Mencari penyebab utama </a:t>
            </a:r>
            <a:r>
              <a:rPr lang="id-ID" dirty="0" smtClean="0"/>
              <a:t>cacat</a:t>
            </a:r>
          </a:p>
          <a:p>
            <a:pPr marL="0" indent="0">
              <a:buNone/>
            </a:pPr>
            <a:r>
              <a:rPr lang="id-ID" dirty="0" smtClean="0"/>
              <a:t>Pada tahapan ini bertujuan mecari penyebab utama cacat, biasanya bisa menggunakan 5 why analisa, atau diagram sebab akibat, lalu dibuat pola-pola cacat ini terjadi perbagian produksi misal dari tahap A sampe Z dianalisa </a:t>
            </a:r>
          </a:p>
          <a:p>
            <a:pPr marL="0" indent="0">
              <a:buNone/>
            </a:pPr>
            <a:r>
              <a:rPr lang="id-ID" dirty="0" smtClean="0"/>
              <a:t>Sebagai contohnya</a:t>
            </a:r>
          </a:p>
          <a:p>
            <a:pPr marL="0" indent="0">
              <a:buNone/>
            </a:pPr>
            <a:r>
              <a:rPr lang="id-ID" dirty="0"/>
              <a:t>Seorang teknisi menemukan bahwa </a:t>
            </a:r>
            <a:r>
              <a:rPr lang="id-ID" b="1" dirty="0"/>
              <a:t>banyak suku cadang mesin yang tidak sesuai ukuran</a:t>
            </a:r>
            <a:r>
              <a:rPr lang="id-ID" dirty="0"/>
              <a:t>. Setelah dianalisis, penyebabnya adalah </a:t>
            </a:r>
            <a:r>
              <a:rPr lang="id-ID" b="1" dirty="0"/>
              <a:t>getaran mesin produksi yang berlebihan</a:t>
            </a:r>
            <a:r>
              <a:rPr lang="id-ID" dirty="0"/>
              <a:t> akibat bantalan yang aus.</a:t>
            </a:r>
          </a:p>
          <a:p>
            <a:pPr marL="0" indent="0">
              <a:buNone/>
            </a:pPr>
            <a:endParaRPr lang="id-ID" dirty="0"/>
          </a:p>
        </p:txBody>
      </p:sp>
    </p:spTree>
    <p:extLst>
      <p:ext uri="{BB962C8B-B14F-4D97-AF65-F5344CB8AC3E}">
        <p14:creationId xmlns:p14="http://schemas.microsoft.com/office/powerpoint/2010/main" val="449395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idx="1"/>
          </p:nvPr>
        </p:nvSpPr>
        <p:spPr>
          <a:xfrm>
            <a:off x="468313" y="476250"/>
            <a:ext cx="8229600" cy="4525963"/>
          </a:xfrm>
        </p:spPr>
        <p:txBody>
          <a:bodyPr>
            <a:normAutofit fontScale="70000" lnSpcReduction="20000"/>
          </a:bodyPr>
          <a:lstStyle/>
          <a:p>
            <a:r>
              <a:rPr lang="id-ID" dirty="0"/>
              <a:t>Improve (Meningkatkan) – Perbaikan proses untuk mengurangi </a:t>
            </a:r>
            <a:r>
              <a:rPr lang="id-ID" dirty="0" smtClean="0"/>
              <a:t>cacat</a:t>
            </a:r>
          </a:p>
          <a:p>
            <a:pPr marL="0" indent="0" algn="just">
              <a:buNone/>
            </a:pPr>
            <a:r>
              <a:rPr lang="id-ID" dirty="0" smtClean="0"/>
              <a:t>Setelah penyebab utama ditemuka dari akar akar masalanya, maka tahap ini fokus pihak teknisi, pengukur fokus memperbaiki dan meningkatkan kualitas produk sesuai dengan standarisai dan kemauan pekanggan. Bagaimana caranya ya bisa dengan memperbaiki hal-hal kecil atau langsung stop prodksi perbaiki ke hal hal mesin dan pengaturan spesifikasi pekerja yang dibutuhkan kalau untuk ini pilihan ada di pengusaha, fokus utama tim pengedalian mutu ya mencari tau dan memperbaikinay</a:t>
            </a:r>
          </a:p>
          <a:p>
            <a:pPr marL="0" indent="0" algn="just">
              <a:buNone/>
            </a:pPr>
            <a:r>
              <a:rPr lang="id-ID" dirty="0" smtClean="0"/>
              <a:t>Sebagai contoh:</a:t>
            </a:r>
          </a:p>
          <a:p>
            <a:pPr marL="0" indent="0" algn="just">
              <a:buNone/>
            </a:pPr>
            <a:r>
              <a:rPr lang="id-ID" dirty="0"/>
              <a:t>Untuk mengatasi masalah </a:t>
            </a:r>
            <a:r>
              <a:rPr lang="id-ID" b="1" dirty="0"/>
              <a:t>getaran mesin berlebihan</a:t>
            </a:r>
            <a:r>
              <a:rPr lang="id-ID" dirty="0"/>
              <a:t>, tim teknisi mengganti bantalan yang aus dan menyesuaikan kecepatan mesin. Setelah diuji, hasilnya lebih stabil dan jumlah cacat menurun drastis.</a:t>
            </a:r>
          </a:p>
          <a:p>
            <a:pPr marL="0" indent="0">
              <a:buNone/>
            </a:pPr>
            <a:endParaRPr lang="id-ID" dirty="0"/>
          </a:p>
        </p:txBody>
      </p:sp>
    </p:spTree>
    <p:extLst>
      <p:ext uri="{BB962C8B-B14F-4D97-AF65-F5344CB8AC3E}">
        <p14:creationId xmlns:p14="http://schemas.microsoft.com/office/powerpoint/2010/main" val="2070864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68313" y="188913"/>
            <a:ext cx="8229600" cy="4525962"/>
          </a:xfrm>
        </p:spPr>
        <p:txBody>
          <a:bodyPr>
            <a:normAutofit fontScale="70000" lnSpcReduction="20000"/>
          </a:bodyPr>
          <a:lstStyle/>
          <a:p>
            <a:r>
              <a:rPr lang="id-ID" dirty="0"/>
              <a:t>Control (Mengendalikan) – Standarisasi untuk menjaga hasil tetap </a:t>
            </a:r>
            <a:r>
              <a:rPr lang="id-ID" dirty="0" smtClean="0"/>
              <a:t>baik</a:t>
            </a:r>
          </a:p>
          <a:p>
            <a:pPr marL="0" indent="0">
              <a:buNone/>
            </a:pPr>
            <a:r>
              <a:rPr lang="id-ID" dirty="0" smtClean="0"/>
              <a:t>Tahap terakhir ini adalah tahap yang bertujuan memastikan perbaikan tetap berjalan dan masalah tidak muncul lagi. </a:t>
            </a:r>
            <a:r>
              <a:rPr lang="id-ID" dirty="0"/>
              <a:t>Artinya masalah cacat tadi sudah ditekan, namun menjaganya agar masalah ini dan masalah serupa tidak terjadi lagi caranya yaitu membuat atau memperbaharui SOP baikke mesin atau ke manusia penggunanya, ada jadwal pemeliharaan, jadwal monitoring berkala dengan alat seperti peta kendali, dan menetapkan sangki yang tegas kepada pengguna/kariwan</a:t>
            </a:r>
            <a:br>
              <a:rPr lang="id-ID" dirty="0"/>
            </a:br>
            <a:r>
              <a:rPr lang="id-ID" dirty="0"/>
              <a:t>sebgai contoh</a:t>
            </a:r>
            <a:br>
              <a:rPr lang="id-ID" dirty="0"/>
            </a:br>
            <a:r>
              <a:rPr lang="id-ID" dirty="0"/>
              <a:t>Setelah melakukan perbaikan, pabrik menetapkan aturan baru:</a:t>
            </a:r>
            <a:br>
              <a:rPr lang="id-ID" dirty="0"/>
            </a:br>
            <a:r>
              <a:rPr lang="id-ID" dirty="0"/>
              <a:t>✅ </a:t>
            </a:r>
            <a:r>
              <a:rPr lang="id-ID" b="1" dirty="0"/>
              <a:t>Cek bantalan mesin setiap minggu.</a:t>
            </a:r>
            <a:r>
              <a:rPr lang="id-ID" dirty="0"/>
              <a:t/>
            </a:r>
            <a:br>
              <a:rPr lang="id-ID" dirty="0"/>
            </a:br>
            <a:r>
              <a:rPr lang="id-ID" dirty="0"/>
              <a:t>✅ </a:t>
            </a:r>
            <a:r>
              <a:rPr lang="id-ID" b="1" dirty="0"/>
              <a:t>Latih operator agar bisa mendeteksi tanda-tanda awal masalah.</a:t>
            </a:r>
            <a:r>
              <a:rPr lang="id-ID" dirty="0"/>
              <a:t/>
            </a:r>
            <a:br>
              <a:rPr lang="id-ID" dirty="0"/>
            </a:br>
            <a:r>
              <a:rPr lang="id-ID" dirty="0"/>
              <a:t>✅ </a:t>
            </a:r>
            <a:r>
              <a:rPr lang="id-ID" b="1" dirty="0"/>
              <a:t>Gunakan alat pengukur getaran untuk memastikan mesin tetap stabil.</a:t>
            </a:r>
            <a:endParaRPr lang="id-ID" dirty="0"/>
          </a:p>
          <a:p>
            <a:endParaRPr lang="id-ID" dirty="0"/>
          </a:p>
          <a:p>
            <a:endParaRPr lang="id-ID" dirty="0"/>
          </a:p>
        </p:txBody>
      </p:sp>
    </p:spTree>
    <p:extLst>
      <p:ext uri="{BB962C8B-B14F-4D97-AF65-F5344CB8AC3E}">
        <p14:creationId xmlns:p14="http://schemas.microsoft.com/office/powerpoint/2010/main" val="3124201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id-ID" dirty="0" smtClean="0"/>
              <a:t>Metodologi Tambahan</a:t>
            </a:r>
            <a:br>
              <a:rPr lang="id-ID" dirty="0" smtClean="0"/>
            </a:br>
            <a:r>
              <a:rPr lang="id-ID" dirty="0" smtClean="0"/>
              <a:t>(</a:t>
            </a:r>
            <a:r>
              <a:rPr lang="id-ID" i="1" dirty="0" smtClean="0"/>
              <a:t>lebih jarang digunakan)</a:t>
            </a:r>
            <a:br>
              <a:rPr lang="id-ID" i="1" dirty="0" smtClean="0"/>
            </a:br>
            <a:endParaRPr lang="id-ID" dirty="0"/>
          </a:p>
        </p:txBody>
      </p:sp>
      <p:sp>
        <p:nvSpPr>
          <p:cNvPr id="7" name="Content Placeholder 6"/>
          <p:cNvSpPr>
            <a:spLocks noGrp="1"/>
          </p:cNvSpPr>
          <p:nvPr>
            <p:ph idx="1"/>
          </p:nvPr>
        </p:nvSpPr>
        <p:spPr/>
        <p:txBody>
          <a:bodyPr>
            <a:normAutofit fontScale="85000" lnSpcReduction="20000"/>
          </a:bodyPr>
          <a:lstStyle/>
          <a:p>
            <a:pPr marL="0" indent="0">
              <a:buNone/>
            </a:pPr>
            <a:r>
              <a:rPr lang="id-ID" i="1" dirty="0" smtClean="0"/>
              <a:t>DFSS (Design for Six Sigma)</a:t>
            </a:r>
          </a:p>
          <a:p>
            <a:r>
              <a:rPr lang="id-ID" dirty="0" smtClean="0"/>
              <a:t>Mirip dengan DMADV, tetapi lebih luas dalam mendesain produk atau layanan dari awal agar sesuai dengan standar Six Sigma.</a:t>
            </a:r>
          </a:p>
          <a:p>
            <a:r>
              <a:rPr lang="id-ID" dirty="0" smtClean="0"/>
              <a:t>Tidak selalu mengikuti urutan DMADV, bisa fleksibel sesuai kebutuhan proyek.</a:t>
            </a:r>
          </a:p>
          <a:p>
            <a:endParaRPr lang="id-ID" dirty="0" smtClean="0"/>
          </a:p>
          <a:p>
            <a:pPr marL="0" indent="0">
              <a:buNone/>
            </a:pPr>
            <a:r>
              <a:rPr lang="id-ID" i="1" dirty="0" smtClean="0"/>
              <a:t>LEAN Six Sigma</a:t>
            </a:r>
          </a:p>
          <a:p>
            <a:r>
              <a:rPr lang="id-ID" dirty="0" smtClean="0"/>
              <a:t>Kombinasi </a:t>
            </a:r>
            <a:r>
              <a:rPr lang="id-ID" i="1" dirty="0" smtClean="0"/>
              <a:t>Lean Manufacturing </a:t>
            </a:r>
            <a:r>
              <a:rPr lang="id-ID" dirty="0" smtClean="0"/>
              <a:t>dengan </a:t>
            </a:r>
            <a:r>
              <a:rPr lang="id-ID" i="1" dirty="0" smtClean="0"/>
              <a:t>Six Sigma </a:t>
            </a:r>
            <a:r>
              <a:rPr lang="id-ID" dirty="0" smtClean="0"/>
              <a:t>untuk menghilangkan pemborosan (waste) sekaligus meningkatkan kualitas.</a:t>
            </a:r>
            <a:endParaRPr lang="id-ID" dirty="0"/>
          </a:p>
        </p:txBody>
      </p:sp>
    </p:spTree>
    <p:extLst>
      <p:ext uri="{BB962C8B-B14F-4D97-AF65-F5344CB8AC3E}">
        <p14:creationId xmlns:p14="http://schemas.microsoft.com/office/powerpoint/2010/main" val="37379240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Alat dan teknik dalam six sigma</a:t>
            </a:r>
            <a:endParaRPr lang="id-ID" dirty="0"/>
          </a:p>
        </p:txBody>
      </p:sp>
      <p:sp>
        <p:nvSpPr>
          <p:cNvPr id="3" name="Content Placeholder 2"/>
          <p:cNvSpPr>
            <a:spLocks noGrp="1"/>
          </p:cNvSpPr>
          <p:nvPr>
            <p:ph idx="1"/>
          </p:nvPr>
        </p:nvSpPr>
        <p:spPr/>
        <p:txBody>
          <a:bodyPr/>
          <a:lstStyle/>
          <a:p>
            <a:r>
              <a:rPr lang="id-ID" dirty="0" smtClean="0"/>
              <a:t>Diagram Pareto (Menentukan penyebab utama masalah)</a:t>
            </a:r>
          </a:p>
          <a:p>
            <a:r>
              <a:rPr lang="id-ID" dirty="0" smtClean="0"/>
              <a:t>Diagram Fishbone (Ishikawa) (Menganalisis penyebab cacat)</a:t>
            </a:r>
          </a:p>
          <a:p>
            <a:r>
              <a:rPr lang="id-ID" dirty="0" smtClean="0"/>
              <a:t>Failure Mode and Effects Analysis (FMEA)</a:t>
            </a:r>
          </a:p>
          <a:p>
            <a:r>
              <a:rPr lang="id-ID" dirty="0" smtClean="0"/>
              <a:t>Statistical Process Control (SPC)</a:t>
            </a:r>
          </a:p>
          <a:p>
            <a:r>
              <a:rPr lang="id-ID" dirty="0" smtClean="0"/>
              <a:t>Peta Kendali (Control Chart)</a:t>
            </a:r>
            <a:endParaRPr lang="id-ID" dirty="0"/>
          </a:p>
        </p:txBody>
      </p:sp>
    </p:spTree>
    <p:extLst>
      <p:ext uri="{BB962C8B-B14F-4D97-AF65-F5344CB8AC3E}">
        <p14:creationId xmlns:p14="http://schemas.microsoft.com/office/powerpoint/2010/main" val="1937205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smtClean="0"/>
              <a:t>Penerapan six sigma di industri pemesinan</a:t>
            </a:r>
            <a:endParaRPr lang="id-ID" dirty="0"/>
          </a:p>
        </p:txBody>
      </p:sp>
      <p:sp>
        <p:nvSpPr>
          <p:cNvPr id="3" name="Content Placeholder 2"/>
          <p:cNvSpPr>
            <a:spLocks noGrp="1"/>
          </p:cNvSpPr>
          <p:nvPr>
            <p:ph idx="1"/>
          </p:nvPr>
        </p:nvSpPr>
        <p:spPr/>
        <p:txBody>
          <a:bodyPr>
            <a:normAutofit lnSpcReduction="10000"/>
          </a:bodyPr>
          <a:lstStyle/>
          <a:p>
            <a:r>
              <a:rPr lang="id-ID" dirty="0" smtClean="0"/>
              <a:t>Contoh Kasus: Implementasi Six Sigma dalam manufaktur mesin</a:t>
            </a:r>
            <a:br>
              <a:rPr lang="id-ID" dirty="0" smtClean="0"/>
            </a:br>
            <a:r>
              <a:rPr lang="id-ID" dirty="0" smtClean="0"/>
              <a:t>misal: melakukan kalibrasi pada mesin dan penambahan SOP </a:t>
            </a:r>
          </a:p>
          <a:p>
            <a:r>
              <a:rPr lang="id-ID" dirty="0" smtClean="0"/>
              <a:t>Tahapan Six sigma diterpakan kedalam (define, measure, analis, improve, controlnya)</a:t>
            </a:r>
          </a:p>
          <a:p>
            <a:r>
              <a:rPr lang="id-ID" dirty="0" smtClean="0"/>
              <a:t>Hasil yang Dicapai: Pengurangan cacat, efisiensi proses, dan peningkatan kualitas produk</a:t>
            </a:r>
            <a:endParaRPr lang="id-ID" dirty="0"/>
          </a:p>
        </p:txBody>
      </p:sp>
    </p:spTree>
    <p:extLst>
      <p:ext uri="{BB962C8B-B14F-4D97-AF65-F5344CB8AC3E}">
        <p14:creationId xmlns:p14="http://schemas.microsoft.com/office/powerpoint/2010/main" val="3424474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id-ID" dirty="0" smtClean="0"/>
              <a:t>Keuntungan dan Tantangan Dalam Penerapan Six Sigma</a:t>
            </a:r>
            <a:endParaRPr lang="id-ID" dirty="0"/>
          </a:p>
        </p:txBody>
      </p:sp>
      <p:sp>
        <p:nvSpPr>
          <p:cNvPr id="7" name="Subtitle 6"/>
          <p:cNvSpPr>
            <a:spLocks noGrp="1"/>
          </p:cNvSpPr>
          <p:nvPr>
            <p:ph type="subTitle" idx="1"/>
          </p:nvPr>
        </p:nvSpPr>
        <p:spPr/>
        <p:txBody>
          <a:bodyPr/>
          <a:lstStyle/>
          <a:p>
            <a:endParaRPr lang="id-ID"/>
          </a:p>
        </p:txBody>
      </p:sp>
    </p:spTree>
    <p:extLst>
      <p:ext uri="{BB962C8B-B14F-4D97-AF65-F5344CB8AC3E}">
        <p14:creationId xmlns:p14="http://schemas.microsoft.com/office/powerpoint/2010/main" val="1718158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keuntungan</a:t>
            </a:r>
            <a:endParaRPr lang="id-ID" dirty="0"/>
          </a:p>
        </p:txBody>
      </p:sp>
      <p:sp>
        <p:nvSpPr>
          <p:cNvPr id="3" name="Content Placeholder 2"/>
          <p:cNvSpPr>
            <a:spLocks noGrp="1"/>
          </p:cNvSpPr>
          <p:nvPr>
            <p:ph idx="1"/>
          </p:nvPr>
        </p:nvSpPr>
        <p:spPr/>
        <p:txBody>
          <a:bodyPr/>
          <a:lstStyle/>
          <a:p>
            <a:r>
              <a:rPr lang="id-ID" dirty="0" smtClean="0"/>
              <a:t>Mengurangi variabilitas dalam produksi</a:t>
            </a:r>
          </a:p>
          <a:p>
            <a:r>
              <a:rPr lang="id-ID" dirty="0" smtClean="0"/>
              <a:t>Meningkatkan efisiensi dan produktivitas</a:t>
            </a:r>
          </a:p>
          <a:p>
            <a:r>
              <a:rPr lang="id-ID" dirty="0" smtClean="0"/>
              <a:t>Mengurangi biaya produksi akibat cacat</a:t>
            </a:r>
            <a:endParaRPr lang="id-ID" dirty="0"/>
          </a:p>
        </p:txBody>
      </p:sp>
    </p:spTree>
    <p:extLst>
      <p:ext uri="{BB962C8B-B14F-4D97-AF65-F5344CB8AC3E}">
        <p14:creationId xmlns:p14="http://schemas.microsoft.com/office/powerpoint/2010/main" val="1250567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kekurangan</a:t>
            </a:r>
            <a:endParaRPr lang="id-ID" dirty="0"/>
          </a:p>
        </p:txBody>
      </p:sp>
      <p:sp>
        <p:nvSpPr>
          <p:cNvPr id="3" name="Content Placeholder 2"/>
          <p:cNvSpPr>
            <a:spLocks noGrp="1"/>
          </p:cNvSpPr>
          <p:nvPr>
            <p:ph idx="1"/>
          </p:nvPr>
        </p:nvSpPr>
        <p:spPr/>
        <p:txBody>
          <a:bodyPr>
            <a:normAutofit fontScale="92500" lnSpcReduction="20000"/>
          </a:bodyPr>
          <a:lstStyle/>
          <a:p>
            <a:r>
              <a:rPr lang="id-ID" dirty="0"/>
              <a:t>Prosesnya butuh waktu lama </a:t>
            </a:r>
          </a:p>
          <a:p>
            <a:pPr marL="0" indent="0">
              <a:buNone/>
            </a:pPr>
            <a:r>
              <a:rPr lang="id-ID" dirty="0" smtClean="0"/>
              <a:t>Harus </a:t>
            </a:r>
            <a:r>
              <a:rPr lang="id-ID" dirty="0"/>
              <a:t>melalui banyak tahapan (DMAIC/DMADV</a:t>
            </a:r>
            <a:r>
              <a:rPr lang="id-ID" dirty="0" smtClean="0"/>
              <a:t>).</a:t>
            </a:r>
          </a:p>
          <a:p>
            <a:r>
              <a:rPr lang="id-ID" dirty="0" smtClean="0"/>
              <a:t>Memerlukan </a:t>
            </a:r>
            <a:r>
              <a:rPr lang="id-ID" dirty="0"/>
              <a:t>pelatihan khusus </a:t>
            </a:r>
          </a:p>
          <a:p>
            <a:pPr marL="0" indent="0">
              <a:buNone/>
            </a:pPr>
            <a:r>
              <a:rPr lang="id-ID" dirty="0" smtClean="0"/>
              <a:t>Butuh </a:t>
            </a:r>
            <a:r>
              <a:rPr lang="id-ID" dirty="0"/>
              <a:t>tim dengan sertifikasi Six Sigma (Green Belt, Black Belt, dll</a:t>
            </a:r>
            <a:r>
              <a:rPr lang="id-ID" dirty="0" smtClean="0"/>
              <a:t>.).</a:t>
            </a:r>
          </a:p>
          <a:p>
            <a:r>
              <a:rPr lang="id-ID" dirty="0" smtClean="0"/>
              <a:t>Kurang </a:t>
            </a:r>
            <a:r>
              <a:rPr lang="id-ID" dirty="0"/>
              <a:t>cocok untuk bisnis kecil </a:t>
            </a:r>
          </a:p>
          <a:p>
            <a:pPr marL="0" indent="0">
              <a:buNone/>
            </a:pPr>
            <a:r>
              <a:rPr lang="id-ID" dirty="0" smtClean="0"/>
              <a:t>Karena </a:t>
            </a:r>
            <a:r>
              <a:rPr lang="id-ID" dirty="0"/>
              <a:t>butuh investasi dalam alat dan pelatihan</a:t>
            </a:r>
            <a:r>
              <a:rPr lang="id-ID" dirty="0" smtClean="0"/>
              <a:t>.</a:t>
            </a:r>
          </a:p>
          <a:p>
            <a:r>
              <a:rPr lang="id-ID" dirty="0" smtClean="0"/>
              <a:t> </a:t>
            </a:r>
            <a:r>
              <a:rPr lang="id-ID" dirty="0"/>
              <a:t>Tidak selalu fleksibel </a:t>
            </a:r>
          </a:p>
          <a:p>
            <a:pPr marL="0" indent="0">
              <a:buNone/>
            </a:pPr>
            <a:r>
              <a:rPr lang="id-ID" dirty="0" smtClean="0"/>
              <a:t>Fokus </a:t>
            </a:r>
            <a:r>
              <a:rPr lang="id-ID" dirty="0"/>
              <a:t>pada data, sehingga kurang cocok untuk inovasi yang membutuhkan kreativitas tinggi.</a:t>
            </a:r>
          </a:p>
        </p:txBody>
      </p:sp>
    </p:spTree>
    <p:extLst>
      <p:ext uri="{BB962C8B-B14F-4D97-AF65-F5344CB8AC3E}">
        <p14:creationId xmlns:p14="http://schemas.microsoft.com/office/powerpoint/2010/main" val="2460326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d-ID" dirty="0" smtClean="0"/>
              <a:t>Tantangan Beserta Solusi</a:t>
            </a:r>
            <a:br>
              <a:rPr lang="id-ID" dirty="0" smtClean="0"/>
            </a:br>
            <a:r>
              <a:rPr lang="id-ID" i="1" dirty="0" smtClean="0"/>
              <a:t>yang dapat saya bagikan..</a:t>
            </a:r>
            <a:endParaRPr lang="id-ID" dirty="0"/>
          </a:p>
        </p:txBody>
      </p:sp>
      <p:sp>
        <p:nvSpPr>
          <p:cNvPr id="3" name="Content Placeholder 2"/>
          <p:cNvSpPr>
            <a:spLocks noGrp="1"/>
          </p:cNvSpPr>
          <p:nvPr>
            <p:ph idx="1"/>
          </p:nvPr>
        </p:nvSpPr>
        <p:spPr/>
        <p:txBody>
          <a:bodyPr>
            <a:normAutofit fontScale="85000" lnSpcReduction="10000"/>
          </a:bodyPr>
          <a:lstStyle/>
          <a:p>
            <a:pPr marL="514350" indent="-514350">
              <a:buFont typeface="+mj-lt"/>
              <a:buAutoNum type="arabicPeriod"/>
            </a:pPr>
            <a:r>
              <a:rPr lang="id-ID" dirty="0"/>
              <a:t>Resistensi dari Karyawan (Penolakan terhadap Perubahan)</a:t>
            </a:r>
          </a:p>
          <a:p>
            <a:pPr marL="0" indent="0">
              <a:buNone/>
            </a:pPr>
            <a:r>
              <a:rPr lang="id-ID" dirty="0" smtClean="0"/>
              <a:t>Masalah</a:t>
            </a:r>
            <a:r>
              <a:rPr lang="id-ID" dirty="0"/>
              <a:t>:</a:t>
            </a:r>
          </a:p>
          <a:p>
            <a:pPr marL="0" indent="0">
              <a:buNone/>
            </a:pPr>
            <a:r>
              <a:rPr lang="id-ID" dirty="0"/>
              <a:t>Karyawan mungkin merasa tidak nyaman karena harus belajar hal baru, mengubah cara kerja lama, atau takut kehilangan peran jika proses menjadi lebih efisien.</a:t>
            </a:r>
          </a:p>
          <a:p>
            <a:pPr marL="0" indent="0">
              <a:buNone/>
            </a:pPr>
            <a:r>
              <a:rPr lang="id-ID" dirty="0" smtClean="0"/>
              <a:t>Solusi </a:t>
            </a:r>
            <a:r>
              <a:rPr lang="id-ID" dirty="0"/>
              <a:t>Singkat:</a:t>
            </a:r>
          </a:p>
          <a:p>
            <a:pPr marL="0" indent="0">
              <a:buNone/>
            </a:pPr>
            <a:r>
              <a:rPr lang="id-ID" dirty="0" smtClean="0"/>
              <a:t>Berikan </a:t>
            </a:r>
            <a:r>
              <a:rPr lang="id-ID" dirty="0"/>
              <a:t>pelatihan yang mudah dipahami, libatkan mereka sejak awal, dan tunjukkan manfaat nyata dari perubahan (misalnya: kerja lebih mudah, hasil lebih baik, peluang naik jabatan).</a:t>
            </a:r>
            <a:endParaRPr lang="id-ID" dirty="0" smtClean="0"/>
          </a:p>
        </p:txBody>
      </p:sp>
    </p:spTree>
    <p:extLst>
      <p:ext uri="{BB962C8B-B14F-4D97-AF65-F5344CB8AC3E}">
        <p14:creationId xmlns:p14="http://schemas.microsoft.com/office/powerpoint/2010/main" val="24764081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229600" cy="4525963"/>
          </a:xfrm>
        </p:spPr>
        <p:txBody>
          <a:bodyPr>
            <a:normAutofit fontScale="92500" lnSpcReduction="10000"/>
          </a:bodyPr>
          <a:lstStyle/>
          <a:p>
            <a:pPr marL="514350" indent="-514350">
              <a:buFont typeface="+mj-lt"/>
              <a:buAutoNum type="arabicPeriod" startAt="2"/>
            </a:pPr>
            <a:r>
              <a:rPr lang="id-ID" dirty="0"/>
              <a:t>Sulit Mengubah Budaya Kerja (Culture Shock)</a:t>
            </a:r>
          </a:p>
          <a:p>
            <a:pPr marL="0" indent="0">
              <a:buNone/>
            </a:pPr>
            <a:r>
              <a:rPr lang="id-ID" dirty="0" smtClean="0"/>
              <a:t> Masalah:</a:t>
            </a:r>
          </a:p>
          <a:p>
            <a:pPr marL="0" indent="0">
              <a:buNone/>
            </a:pPr>
            <a:r>
              <a:rPr lang="id-ID" dirty="0" smtClean="0"/>
              <a:t>Perusahaan </a:t>
            </a:r>
            <a:r>
              <a:rPr lang="id-ID" dirty="0"/>
              <a:t>yang terbiasa dengan cara kerja tradisional mungkin sulit menerima sistem yang berbasis data dan proses formal seperti DMAIC.</a:t>
            </a:r>
          </a:p>
          <a:p>
            <a:pPr marL="0" indent="0">
              <a:buNone/>
            </a:pPr>
            <a:r>
              <a:rPr lang="id-ID" dirty="0" smtClean="0"/>
              <a:t>Solusi </a:t>
            </a:r>
            <a:r>
              <a:rPr lang="id-ID" dirty="0"/>
              <a:t>Singkat:</a:t>
            </a:r>
          </a:p>
          <a:p>
            <a:pPr marL="0" indent="0">
              <a:buNone/>
            </a:pPr>
            <a:r>
              <a:rPr lang="id-ID" dirty="0" smtClean="0"/>
              <a:t>Mulailah </a:t>
            </a:r>
            <a:r>
              <a:rPr lang="id-ID" dirty="0"/>
              <a:t>perubahan secara bertahap, mulai dari proyek kecil (pilot project), lalu tularkan budaya Six Sigma sedikit demi sedikit ke bagian lain.</a:t>
            </a:r>
          </a:p>
        </p:txBody>
      </p:sp>
    </p:spTree>
    <p:extLst>
      <p:ext uri="{BB962C8B-B14F-4D97-AF65-F5344CB8AC3E}">
        <p14:creationId xmlns:p14="http://schemas.microsoft.com/office/powerpoint/2010/main" val="2962953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268760"/>
            <a:ext cx="8229600" cy="4525963"/>
          </a:xfrm>
        </p:spPr>
        <p:txBody>
          <a:bodyPr>
            <a:normAutofit fontScale="92500" lnSpcReduction="10000"/>
          </a:bodyPr>
          <a:lstStyle/>
          <a:p>
            <a:pPr marL="514350" indent="-514350">
              <a:buFont typeface="+mj-lt"/>
              <a:buAutoNum type="arabicPeriod" startAt="3"/>
            </a:pPr>
            <a:r>
              <a:rPr lang="id-ID" dirty="0"/>
              <a:t>Kurangnya Dukungan dari Manajemen</a:t>
            </a:r>
          </a:p>
          <a:p>
            <a:pPr marL="0" indent="0">
              <a:buNone/>
            </a:pPr>
            <a:r>
              <a:rPr lang="id-ID" dirty="0" smtClean="0"/>
              <a:t>Masalah:</a:t>
            </a:r>
          </a:p>
          <a:p>
            <a:pPr marL="0" indent="0">
              <a:buNone/>
            </a:pPr>
            <a:r>
              <a:rPr lang="id-ID" dirty="0" smtClean="0"/>
              <a:t>Jika </a:t>
            </a:r>
            <a:r>
              <a:rPr lang="id-ID" dirty="0"/>
              <a:t>pimpinan perusahaan tidak sepenuhnya mendukung, maka inisiatif Six Sigma bisa kehilangan arah dan motivasi tim akan turun.</a:t>
            </a:r>
          </a:p>
          <a:p>
            <a:pPr marL="0" indent="0">
              <a:buNone/>
            </a:pPr>
            <a:r>
              <a:rPr lang="id-ID" dirty="0" smtClean="0"/>
              <a:t>Solusi </a:t>
            </a:r>
            <a:r>
              <a:rPr lang="id-ID" dirty="0"/>
              <a:t>Singkat:</a:t>
            </a:r>
          </a:p>
          <a:p>
            <a:pPr marL="0" indent="0">
              <a:buNone/>
            </a:pPr>
            <a:r>
              <a:rPr lang="id-ID" dirty="0" smtClean="0"/>
              <a:t>Pastikan </a:t>
            </a:r>
            <a:r>
              <a:rPr lang="id-ID" dirty="0"/>
              <a:t>manajemen dilibatkan dalam pelatihan, diberi data hasil potensial, dan diberikan peran aktif dalam pengambilan keputusan proyek Six Sigma.</a:t>
            </a:r>
          </a:p>
        </p:txBody>
      </p:sp>
    </p:spTree>
    <p:extLst>
      <p:ext uri="{BB962C8B-B14F-4D97-AF65-F5344CB8AC3E}">
        <p14:creationId xmlns:p14="http://schemas.microsoft.com/office/powerpoint/2010/main" val="4149569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268760"/>
            <a:ext cx="8229600" cy="4525963"/>
          </a:xfrm>
        </p:spPr>
        <p:txBody>
          <a:bodyPr>
            <a:normAutofit fontScale="92500" lnSpcReduction="20000"/>
          </a:bodyPr>
          <a:lstStyle/>
          <a:p>
            <a:pPr marL="514350" indent="-514350">
              <a:buFont typeface="+mj-lt"/>
              <a:buAutoNum type="arabicPeriod" startAt="4"/>
            </a:pPr>
            <a:r>
              <a:rPr lang="id-ID" dirty="0"/>
              <a:t>Kurangnya Sumber Daya (Waktu, Dana, Tim Ahli)</a:t>
            </a:r>
          </a:p>
          <a:p>
            <a:pPr marL="0" indent="0">
              <a:buNone/>
            </a:pPr>
            <a:r>
              <a:rPr lang="id-ID" dirty="0" smtClean="0"/>
              <a:t>Masalah:</a:t>
            </a:r>
          </a:p>
          <a:p>
            <a:pPr marL="0" indent="0">
              <a:buNone/>
            </a:pPr>
            <a:r>
              <a:rPr lang="id-ID" dirty="0" smtClean="0"/>
              <a:t>Implementasi </a:t>
            </a:r>
            <a:r>
              <a:rPr lang="id-ID" dirty="0"/>
              <a:t>Six Sigma memerlukan waktu, biaya, dan tenaga ahli (seperti Green Belt atau Black Belt). Tidak semua organisasi siap secara sumber daya.</a:t>
            </a:r>
          </a:p>
          <a:p>
            <a:pPr marL="0" indent="0">
              <a:buNone/>
            </a:pPr>
            <a:r>
              <a:rPr lang="id-ID" dirty="0" smtClean="0"/>
              <a:t>Solusi </a:t>
            </a:r>
            <a:r>
              <a:rPr lang="id-ID" dirty="0"/>
              <a:t>Singkat:</a:t>
            </a:r>
          </a:p>
          <a:p>
            <a:pPr marL="0" indent="0">
              <a:buNone/>
            </a:pPr>
            <a:r>
              <a:rPr lang="id-ID" dirty="0" smtClean="0"/>
              <a:t>Gunakan </a:t>
            </a:r>
            <a:r>
              <a:rPr lang="id-ID" dirty="0"/>
              <a:t>pendekatan bertahap dan hemat: mulai dengan projek skala kecil, manfaatkan sumber daya internal, dan lakukan pelatihan internal jika memungkinkan.</a:t>
            </a:r>
          </a:p>
        </p:txBody>
      </p:sp>
    </p:spTree>
    <p:extLst>
      <p:ext uri="{BB962C8B-B14F-4D97-AF65-F5344CB8AC3E}">
        <p14:creationId xmlns:p14="http://schemas.microsoft.com/office/powerpoint/2010/main" val="3378057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340768"/>
            <a:ext cx="8229600" cy="4525963"/>
          </a:xfrm>
        </p:spPr>
        <p:txBody>
          <a:bodyPr>
            <a:normAutofit fontScale="92500" lnSpcReduction="20000"/>
          </a:bodyPr>
          <a:lstStyle/>
          <a:p>
            <a:pPr marL="514350" indent="-514350">
              <a:buFont typeface="+mj-lt"/>
              <a:buAutoNum type="arabicPeriod" startAt="5"/>
            </a:pPr>
            <a:r>
              <a:rPr lang="id-ID" dirty="0"/>
              <a:t>Harus Terus Menerus Dipantau (Butuh Komitmen Jangka Panjang)</a:t>
            </a:r>
          </a:p>
          <a:p>
            <a:pPr marL="0" indent="0">
              <a:buNone/>
            </a:pPr>
            <a:r>
              <a:rPr lang="id-ID" dirty="0" smtClean="0"/>
              <a:t>Masalah</a:t>
            </a:r>
            <a:r>
              <a:rPr lang="id-ID" dirty="0"/>
              <a:t>:</a:t>
            </a:r>
          </a:p>
          <a:p>
            <a:pPr marL="0" indent="0">
              <a:buNone/>
            </a:pPr>
            <a:r>
              <a:rPr lang="id-ID" dirty="0"/>
              <a:t>Six Sigma bukan program sekali jalan. Harus ada monitoring rutin agar perbaikan tetap berjalan dan tidak kembali ke masalah lama.</a:t>
            </a:r>
          </a:p>
          <a:p>
            <a:pPr marL="0" indent="0">
              <a:buNone/>
            </a:pPr>
            <a:r>
              <a:rPr lang="id-ID" dirty="0" smtClean="0"/>
              <a:t>Solusi </a:t>
            </a:r>
            <a:r>
              <a:rPr lang="id-ID" dirty="0"/>
              <a:t>Singkat:</a:t>
            </a:r>
          </a:p>
          <a:p>
            <a:pPr marL="0" indent="0">
              <a:buNone/>
            </a:pPr>
            <a:r>
              <a:rPr lang="id-ID" dirty="0" smtClean="0"/>
              <a:t>Buat </a:t>
            </a:r>
            <a:r>
              <a:rPr lang="id-ID" dirty="0"/>
              <a:t>SOP (Standar Operasional Prosedur) yang mudah diikuti, tetapkan jadwal evaluasi berkala, dan bentuk tim kontrol mutu internal.</a:t>
            </a:r>
          </a:p>
        </p:txBody>
      </p:sp>
    </p:spTree>
    <p:extLst>
      <p:ext uri="{BB962C8B-B14F-4D97-AF65-F5344CB8AC3E}">
        <p14:creationId xmlns:p14="http://schemas.microsoft.com/office/powerpoint/2010/main" val="1999919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412776"/>
            <a:ext cx="8229600" cy="4525963"/>
          </a:xfrm>
        </p:spPr>
        <p:txBody>
          <a:bodyPr>
            <a:normAutofit fontScale="92500" lnSpcReduction="10000"/>
          </a:bodyPr>
          <a:lstStyle/>
          <a:p>
            <a:pPr marL="514350" indent="-514350">
              <a:buFont typeface="+mj-lt"/>
              <a:buAutoNum type="arabicPeriod" startAt="6"/>
            </a:pPr>
            <a:r>
              <a:rPr lang="id-ID" dirty="0"/>
              <a:t>Terlalu Fokus pada Data, Kurang Kreatifitas</a:t>
            </a:r>
          </a:p>
          <a:p>
            <a:pPr marL="0" indent="0">
              <a:buNone/>
            </a:pPr>
            <a:r>
              <a:rPr lang="id-ID" dirty="0" smtClean="0"/>
              <a:t>Masalah:</a:t>
            </a:r>
          </a:p>
          <a:p>
            <a:pPr marL="0" indent="0">
              <a:buNone/>
            </a:pPr>
            <a:r>
              <a:rPr lang="id-ID" dirty="0" smtClean="0"/>
              <a:t>Karena </a:t>
            </a:r>
            <a:r>
              <a:rPr lang="id-ID" dirty="0"/>
              <a:t>Six Sigma sangat berbasis data, kadang tim jadi kurang fleksibel dan enggan mencoba ide baru yang belum terbukti secara statistik.</a:t>
            </a:r>
          </a:p>
          <a:p>
            <a:pPr marL="0" indent="0">
              <a:buNone/>
            </a:pPr>
            <a:r>
              <a:rPr lang="id-ID" dirty="0" smtClean="0"/>
              <a:t>Solusi </a:t>
            </a:r>
            <a:r>
              <a:rPr lang="id-ID" dirty="0"/>
              <a:t>Singkat:</a:t>
            </a:r>
          </a:p>
          <a:p>
            <a:pPr marL="0" indent="0">
              <a:buNone/>
            </a:pPr>
            <a:r>
              <a:rPr lang="id-ID" dirty="0" smtClean="0"/>
              <a:t>Gabungkan </a:t>
            </a:r>
            <a:r>
              <a:rPr lang="id-ID" dirty="0"/>
              <a:t>Six Sigma dengan pendekatan lain seperti Lean atau Design Thinking untuk menjaga keseimbangan antara efisiensi dan inovasi.</a:t>
            </a:r>
          </a:p>
        </p:txBody>
      </p:sp>
    </p:spTree>
    <p:extLst>
      <p:ext uri="{BB962C8B-B14F-4D97-AF65-F5344CB8AC3E}">
        <p14:creationId xmlns:p14="http://schemas.microsoft.com/office/powerpoint/2010/main" val="23721140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Kesimpulan Dan Saran</a:t>
            </a:r>
            <a:endParaRPr lang="id-ID" dirty="0"/>
          </a:p>
        </p:txBody>
      </p:sp>
      <p:sp>
        <p:nvSpPr>
          <p:cNvPr id="3" name="Content Placeholder 2"/>
          <p:cNvSpPr>
            <a:spLocks noGrp="1"/>
          </p:cNvSpPr>
          <p:nvPr>
            <p:ph idx="1"/>
          </p:nvPr>
        </p:nvSpPr>
        <p:spPr/>
        <p:txBody>
          <a:bodyPr>
            <a:normAutofit fontScale="70000" lnSpcReduction="20000"/>
          </a:bodyPr>
          <a:lstStyle/>
          <a:p>
            <a:r>
              <a:rPr lang="id-ID" dirty="0" smtClean="0"/>
              <a:t>Kesimpulan</a:t>
            </a:r>
          </a:p>
          <a:p>
            <a:pPr marL="0" indent="0" algn="just">
              <a:buNone/>
            </a:pPr>
            <a:r>
              <a:rPr lang="id-ID" dirty="0"/>
              <a:t>Pengendalian mutu dengan metode Six Sigma adalah pendekatan yang sistematis dan berbasis data untuk meningkatkan kualitas serta mengurangi cacat dalam proses produksi. Melalui lima tahap utama dalam siklus DMAIC, metode ini membantu perusahaan memahami masalah, menganalisis penyebab, memperbaiki proses, dan menjaga kualitas secara berkelanjutan.</a:t>
            </a:r>
          </a:p>
          <a:p>
            <a:pPr marL="0" indent="0">
              <a:buNone/>
            </a:pPr>
            <a:endParaRPr lang="id-ID" dirty="0"/>
          </a:p>
          <a:p>
            <a:pPr marL="0" indent="0" algn="just">
              <a:buNone/>
            </a:pPr>
            <a:r>
              <a:rPr lang="id-ID" dirty="0"/>
              <a:t>Dengan mempelajari pengendalian mutu jenis ini, </a:t>
            </a:r>
            <a:r>
              <a:rPr lang="id-ID" dirty="0" smtClean="0"/>
              <a:t>saya sebagai </a:t>
            </a:r>
            <a:r>
              <a:rPr lang="id-ID" dirty="0"/>
              <a:t>mahasiswa Pendidikan Teknik Mesin dapat lebih memahami berbagai teknik dan pendekatan yang digunakan dalam dunia industri. Selain itu, saya pribadi merasa metode ini sangat bermanfaat dan memungkinkan untuk diterapkan dalam pekerjaan saya di masa depan, atau bahkan untuk usaha dan bisnis yang ingin saya buka suatu saat nanti.</a:t>
            </a:r>
            <a:endParaRPr lang="id-ID" dirty="0"/>
          </a:p>
        </p:txBody>
      </p:sp>
    </p:spTree>
    <p:extLst>
      <p:ext uri="{BB962C8B-B14F-4D97-AF65-F5344CB8AC3E}">
        <p14:creationId xmlns:p14="http://schemas.microsoft.com/office/powerpoint/2010/main" val="757369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52736"/>
            <a:ext cx="8229600" cy="4525963"/>
          </a:xfrm>
        </p:spPr>
        <p:txBody>
          <a:bodyPr>
            <a:normAutofit/>
          </a:bodyPr>
          <a:lstStyle/>
          <a:p>
            <a:pPr marL="0" indent="0">
              <a:buNone/>
            </a:pPr>
            <a:r>
              <a:rPr lang="id-ID" dirty="0" smtClean="0"/>
              <a:t>Saran Dan Penutup Materi</a:t>
            </a:r>
          </a:p>
          <a:p>
            <a:pPr marL="0" indent="0" algn="just">
              <a:buNone/>
            </a:pPr>
            <a:r>
              <a:rPr lang="id-ID" sz="2800" dirty="0"/>
              <a:t>Saya menyadari bahwa dalam penyusunan presentasi ini, mungkin terdapat sumber yang kurang relevan atau kurang tepat, oleh karena itu saya mohon maaf yang sebesar-besarnya.</a:t>
            </a:r>
          </a:p>
          <a:p>
            <a:pPr marL="0" indent="0" algn="just">
              <a:buNone/>
            </a:pPr>
            <a:endParaRPr lang="id-ID" sz="2800" dirty="0"/>
          </a:p>
          <a:p>
            <a:pPr marL="0" indent="0" algn="just">
              <a:buNone/>
            </a:pPr>
            <a:r>
              <a:rPr lang="id-ID" sz="2800" dirty="0"/>
              <a:t>Sebagai penutup, saya juga membuka sesi tanya jawab, apabila ada hal-hal yang masih kurang jelas atau ingin didiskusikan lebih lanjut.</a:t>
            </a:r>
          </a:p>
        </p:txBody>
      </p:sp>
    </p:spTree>
    <p:extLst>
      <p:ext uri="{BB962C8B-B14F-4D97-AF65-F5344CB8AC3E}">
        <p14:creationId xmlns:p14="http://schemas.microsoft.com/office/powerpoint/2010/main" val="18932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Tanya jawab</a:t>
            </a:r>
            <a:endParaRPr lang="id-ID" dirty="0"/>
          </a:p>
        </p:txBody>
      </p:sp>
      <p:sp>
        <p:nvSpPr>
          <p:cNvPr id="3" name="Content Placeholder 2"/>
          <p:cNvSpPr>
            <a:spLocks noGrp="1"/>
          </p:cNvSpPr>
          <p:nvPr>
            <p:ph idx="1"/>
          </p:nvPr>
        </p:nvSpPr>
        <p:spPr/>
        <p:txBody>
          <a:bodyPr/>
          <a:lstStyle/>
          <a:p>
            <a:r>
              <a:rPr lang="id-ID" dirty="0" smtClean="0"/>
              <a:t>Bertanya</a:t>
            </a:r>
          </a:p>
          <a:p>
            <a:r>
              <a:rPr lang="id-ID" dirty="0" smtClean="0"/>
              <a:t>Dijawab</a:t>
            </a:r>
          </a:p>
          <a:p>
            <a:r>
              <a:rPr lang="id-ID" dirty="0" smtClean="0"/>
              <a:t>Yang menanyakan</a:t>
            </a:r>
            <a:endParaRPr lang="id-ID" dirty="0"/>
          </a:p>
        </p:txBody>
      </p:sp>
    </p:spTree>
    <p:extLst>
      <p:ext uri="{BB962C8B-B14F-4D97-AF65-F5344CB8AC3E}">
        <p14:creationId xmlns:p14="http://schemas.microsoft.com/office/powerpoint/2010/main" val="3393658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Daftar Pustaka</a:t>
            </a:r>
            <a:endParaRPr lang="id-ID" dirty="0"/>
          </a:p>
        </p:txBody>
      </p:sp>
      <p:sp>
        <p:nvSpPr>
          <p:cNvPr id="3" name="Content Placeholder 2"/>
          <p:cNvSpPr>
            <a:spLocks noGrp="1"/>
          </p:cNvSpPr>
          <p:nvPr>
            <p:ph idx="1"/>
          </p:nvPr>
        </p:nvSpPr>
        <p:spPr/>
        <p:txBody>
          <a:bodyPr/>
          <a:lstStyle/>
          <a:p>
            <a:r>
              <a:rPr lang="id-ID" dirty="0" smtClean="0">
                <a:hlinkClick r:id="rId2"/>
              </a:rPr>
              <a:t>https://id.wikipedia.org/wiki/Six_Sigma</a:t>
            </a:r>
            <a:endParaRPr lang="id-ID" dirty="0" smtClean="0"/>
          </a:p>
          <a:p>
            <a:r>
              <a:rPr lang="id-ID" dirty="0" smtClean="0">
                <a:hlinkClick r:id="rId3"/>
              </a:rPr>
              <a:t>https://www.professionaldevelopment.ie/lean-six-sigma-dmaic-cycle</a:t>
            </a:r>
            <a:endParaRPr lang="id-ID" dirty="0" smtClean="0"/>
          </a:p>
          <a:p>
            <a:endParaRPr lang="id-ID" dirty="0"/>
          </a:p>
        </p:txBody>
      </p:sp>
    </p:spTree>
    <p:extLst>
      <p:ext uri="{BB962C8B-B14F-4D97-AF65-F5344CB8AC3E}">
        <p14:creationId xmlns:p14="http://schemas.microsoft.com/office/powerpoint/2010/main" val="2971529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TotalTime>
  <Words>2116</Words>
  <Application>Microsoft Office PowerPoint</Application>
  <PresentationFormat>On-screen Show (4:3)</PresentationFormat>
  <Paragraphs>156</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Penerapan Six Sigma Dalam Pengendalian Mutu </vt:lpstr>
      <vt:lpstr>Pendahulun</vt:lpstr>
      <vt:lpstr>PowerPoint Presentation</vt:lpstr>
      <vt:lpstr>Konsep dasar six sigma</vt:lpstr>
      <vt:lpstr>Arti six sigma itu apan sihh?</vt:lpstr>
      <vt:lpstr>PowerPoint Presentation</vt:lpstr>
      <vt:lpstr>PowerPoint Presentation</vt:lpstr>
      <vt:lpstr>Tahapan Six Sigma</vt:lpstr>
      <vt:lpstr>Gmabr secara sederhananya</vt:lpstr>
      <vt:lpstr>Siklus DMADV</vt:lpstr>
      <vt:lpstr>Tahapan six sigma  Siklus DMAIC digunakan untuk meningkatkan proses yang sudah ada dengan cara mengurngi cacat dan variabilitas</vt:lpstr>
      <vt:lpstr>PowerPoint Presentation</vt:lpstr>
      <vt:lpstr>PowerPoint Presentation</vt:lpstr>
      <vt:lpstr>PowerPoint Presentation</vt:lpstr>
      <vt:lpstr>PowerPoint Presentation</vt:lpstr>
      <vt:lpstr>Metodologi Tambahan (lebih jarang digunakan) </vt:lpstr>
      <vt:lpstr>Alat dan teknik dalam six sigma</vt:lpstr>
      <vt:lpstr>Penerapan six sigma di industri pemesinan</vt:lpstr>
      <vt:lpstr>Keuntungan dan Tantangan Dalam Penerapan Six Sigma</vt:lpstr>
      <vt:lpstr>keuntungan</vt:lpstr>
      <vt:lpstr>kekurangan</vt:lpstr>
      <vt:lpstr>Tantangan Beserta Solusi yang dapat saya bagikan..</vt:lpstr>
      <vt:lpstr>PowerPoint Presentation</vt:lpstr>
      <vt:lpstr>PowerPoint Presentation</vt:lpstr>
      <vt:lpstr>PowerPoint Presentation</vt:lpstr>
      <vt:lpstr>PowerPoint Presentation</vt:lpstr>
      <vt:lpstr>PowerPoint Presentation</vt:lpstr>
      <vt:lpstr>Kesimpulan Dan Saran</vt:lpstr>
      <vt:lpstr>PowerPoint Presentation</vt:lpstr>
      <vt:lpstr>Tanya jawab</vt:lpstr>
      <vt:lpstr>Daftar Pustaka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dc:creator>
  <cp:lastModifiedBy>JOE</cp:lastModifiedBy>
  <cp:revision>19</cp:revision>
  <dcterms:created xsi:type="dcterms:W3CDTF">2025-03-15T07:48:42Z</dcterms:created>
  <dcterms:modified xsi:type="dcterms:W3CDTF">2025-04-07T12:12:36Z</dcterms:modified>
</cp:coreProperties>
</file>