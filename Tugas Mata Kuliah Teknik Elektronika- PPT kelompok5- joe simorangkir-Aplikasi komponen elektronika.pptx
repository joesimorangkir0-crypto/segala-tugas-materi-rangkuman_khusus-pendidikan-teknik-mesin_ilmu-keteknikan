
<file path=[Content_Types].xml><?xml version="1.0" encoding="utf-8"?>
<Types xmlns="http://schemas.openxmlformats.org/package/2006/content-types">
  <Default Extension="jfif" ContentType="image/jpe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536"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id-ID"/>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id-ID"/>
          </a:p>
        </p:txBody>
      </p:sp>
      <p:sp>
        <p:nvSpPr>
          <p:cNvPr id="4" name="Date Placeholder 3"/>
          <p:cNvSpPr>
            <a:spLocks noGrp="1"/>
          </p:cNvSpPr>
          <p:nvPr>
            <p:ph type="dt" sz="half" idx="10"/>
          </p:nvPr>
        </p:nvSpPr>
        <p:spPr/>
        <p:txBody>
          <a:bodyPr/>
          <a:lstStyle/>
          <a:p>
            <a:fld id="{D064B72C-A3F9-4295-91E5-E6706FBC5F8D}" type="datetimeFigureOut">
              <a:rPr lang="id-ID" smtClean="0"/>
              <a:t>26/09/2024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6E03329-D4AF-479E-81C5-8FBD42CD7361}" type="slidenum">
              <a:rPr lang="id-ID" smtClean="0"/>
              <a:t>‹#›</a:t>
            </a:fld>
            <a:endParaRPr lang="id-ID"/>
          </a:p>
        </p:txBody>
      </p:sp>
    </p:spTree>
    <p:extLst>
      <p:ext uri="{BB962C8B-B14F-4D97-AF65-F5344CB8AC3E}">
        <p14:creationId xmlns:p14="http://schemas.microsoft.com/office/powerpoint/2010/main" val="1545653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p>
            <a:fld id="{D064B72C-A3F9-4295-91E5-E6706FBC5F8D}" type="datetimeFigureOut">
              <a:rPr lang="id-ID" smtClean="0"/>
              <a:t>26/09/2024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6E03329-D4AF-479E-81C5-8FBD42CD7361}" type="slidenum">
              <a:rPr lang="id-ID" smtClean="0"/>
              <a:t>‹#›</a:t>
            </a:fld>
            <a:endParaRPr lang="id-ID"/>
          </a:p>
        </p:txBody>
      </p:sp>
    </p:spTree>
    <p:extLst>
      <p:ext uri="{BB962C8B-B14F-4D97-AF65-F5344CB8AC3E}">
        <p14:creationId xmlns:p14="http://schemas.microsoft.com/office/powerpoint/2010/main" val="900445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id-ID"/>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064B72C-A3F9-4295-91E5-E6706FBC5F8D}" type="datetimeFigureOut">
              <a:rPr lang="id-ID" smtClean="0"/>
              <a:t>26/09/2024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6E03329-D4AF-479E-81C5-8FBD42CD7361}" type="slidenum">
              <a:rPr lang="id-ID" smtClean="0"/>
              <a:t>‹#›</a:t>
            </a:fld>
            <a:endParaRPr lang="id-ID"/>
          </a:p>
        </p:txBody>
      </p:sp>
    </p:spTree>
    <p:extLst>
      <p:ext uri="{BB962C8B-B14F-4D97-AF65-F5344CB8AC3E}">
        <p14:creationId xmlns:p14="http://schemas.microsoft.com/office/powerpoint/2010/main" val="3528377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Date Placeholder 4"/>
          <p:cNvSpPr>
            <a:spLocks noGrp="1"/>
          </p:cNvSpPr>
          <p:nvPr>
            <p:ph type="dt" sz="half" idx="10"/>
          </p:nvPr>
        </p:nvSpPr>
        <p:spPr/>
        <p:txBody>
          <a:bodyPr/>
          <a:lstStyle/>
          <a:p>
            <a:fld id="{D064B72C-A3F9-4295-91E5-E6706FBC5F8D}" type="datetimeFigureOut">
              <a:rPr lang="id-ID" smtClean="0"/>
              <a:t>26/09/2024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6E03329-D4AF-479E-81C5-8FBD42CD7361}" type="slidenum">
              <a:rPr lang="id-ID" smtClean="0"/>
              <a:t>‹#›</a:t>
            </a:fld>
            <a:endParaRPr lang="id-ID"/>
          </a:p>
        </p:txBody>
      </p:sp>
    </p:spTree>
    <p:extLst>
      <p:ext uri="{BB962C8B-B14F-4D97-AF65-F5344CB8AC3E}">
        <p14:creationId xmlns:p14="http://schemas.microsoft.com/office/powerpoint/2010/main" val="2761464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id-ID"/>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Date Placeholder 6"/>
          <p:cNvSpPr>
            <a:spLocks noGrp="1"/>
          </p:cNvSpPr>
          <p:nvPr>
            <p:ph type="dt" sz="half" idx="10"/>
          </p:nvPr>
        </p:nvSpPr>
        <p:spPr/>
        <p:txBody>
          <a:bodyPr/>
          <a:lstStyle/>
          <a:p>
            <a:fld id="{D064B72C-A3F9-4295-91E5-E6706FBC5F8D}" type="datetimeFigureOut">
              <a:rPr lang="id-ID" smtClean="0"/>
              <a:t>26/09/2024</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F6E03329-D4AF-479E-81C5-8FBD42CD7361}" type="slidenum">
              <a:rPr lang="id-ID" smtClean="0"/>
              <a:t>‹#›</a:t>
            </a:fld>
            <a:endParaRPr lang="id-ID"/>
          </a:p>
        </p:txBody>
      </p:sp>
    </p:spTree>
    <p:extLst>
      <p:ext uri="{BB962C8B-B14F-4D97-AF65-F5344CB8AC3E}">
        <p14:creationId xmlns:p14="http://schemas.microsoft.com/office/powerpoint/2010/main" val="1199355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Date Placeholder 2"/>
          <p:cNvSpPr>
            <a:spLocks noGrp="1"/>
          </p:cNvSpPr>
          <p:nvPr>
            <p:ph type="dt" sz="half" idx="10"/>
          </p:nvPr>
        </p:nvSpPr>
        <p:spPr/>
        <p:txBody>
          <a:bodyPr/>
          <a:lstStyle/>
          <a:p>
            <a:fld id="{D064B72C-A3F9-4295-91E5-E6706FBC5F8D}" type="datetimeFigureOut">
              <a:rPr lang="id-ID" smtClean="0"/>
              <a:t>26/09/2024</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F6E03329-D4AF-479E-81C5-8FBD42CD7361}" type="slidenum">
              <a:rPr lang="id-ID" smtClean="0"/>
              <a:t>‹#›</a:t>
            </a:fld>
            <a:endParaRPr lang="id-ID"/>
          </a:p>
        </p:txBody>
      </p:sp>
    </p:spTree>
    <p:extLst>
      <p:ext uri="{BB962C8B-B14F-4D97-AF65-F5344CB8AC3E}">
        <p14:creationId xmlns:p14="http://schemas.microsoft.com/office/powerpoint/2010/main" val="4032114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64B72C-A3F9-4295-91E5-E6706FBC5F8D}" type="datetimeFigureOut">
              <a:rPr lang="id-ID" smtClean="0"/>
              <a:t>26/09/2024</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6E03329-D4AF-479E-81C5-8FBD42CD7361}" type="slidenum">
              <a:rPr lang="id-ID" smtClean="0"/>
              <a:t>‹#›</a:t>
            </a:fld>
            <a:endParaRPr lang="id-ID"/>
          </a:p>
        </p:txBody>
      </p:sp>
    </p:spTree>
    <p:extLst>
      <p:ext uri="{BB962C8B-B14F-4D97-AF65-F5344CB8AC3E}">
        <p14:creationId xmlns:p14="http://schemas.microsoft.com/office/powerpoint/2010/main" val="2686150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id-ID"/>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64B72C-A3F9-4295-91E5-E6706FBC5F8D}" type="datetimeFigureOut">
              <a:rPr lang="id-ID" smtClean="0"/>
              <a:t>26/09/2024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6E03329-D4AF-479E-81C5-8FBD42CD7361}" type="slidenum">
              <a:rPr lang="id-ID" smtClean="0"/>
              <a:t>‹#›</a:t>
            </a:fld>
            <a:endParaRPr lang="id-ID"/>
          </a:p>
        </p:txBody>
      </p:sp>
    </p:spTree>
    <p:extLst>
      <p:ext uri="{BB962C8B-B14F-4D97-AF65-F5344CB8AC3E}">
        <p14:creationId xmlns:p14="http://schemas.microsoft.com/office/powerpoint/2010/main" val="3801761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id-ID"/>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64B72C-A3F9-4295-91E5-E6706FBC5F8D}" type="datetimeFigureOut">
              <a:rPr lang="id-ID" smtClean="0"/>
              <a:t>26/09/2024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6E03329-D4AF-479E-81C5-8FBD42CD7361}" type="slidenum">
              <a:rPr lang="id-ID" smtClean="0"/>
              <a:t>‹#›</a:t>
            </a:fld>
            <a:endParaRPr lang="id-ID"/>
          </a:p>
        </p:txBody>
      </p:sp>
    </p:spTree>
    <p:extLst>
      <p:ext uri="{BB962C8B-B14F-4D97-AF65-F5344CB8AC3E}">
        <p14:creationId xmlns:p14="http://schemas.microsoft.com/office/powerpoint/2010/main" val="1352565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p>
            <a:fld id="{D064B72C-A3F9-4295-91E5-E6706FBC5F8D}" type="datetimeFigureOut">
              <a:rPr lang="id-ID" smtClean="0"/>
              <a:t>26/09/2024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6E03329-D4AF-479E-81C5-8FBD42CD7361}" type="slidenum">
              <a:rPr lang="id-ID" smtClean="0"/>
              <a:t>‹#›</a:t>
            </a:fld>
            <a:endParaRPr lang="id-ID"/>
          </a:p>
        </p:txBody>
      </p:sp>
    </p:spTree>
    <p:extLst>
      <p:ext uri="{BB962C8B-B14F-4D97-AF65-F5344CB8AC3E}">
        <p14:creationId xmlns:p14="http://schemas.microsoft.com/office/powerpoint/2010/main" val="4245301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p>
            <a:fld id="{D064B72C-A3F9-4295-91E5-E6706FBC5F8D}" type="datetimeFigureOut">
              <a:rPr lang="id-ID" smtClean="0"/>
              <a:t>26/09/2024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6E03329-D4AF-479E-81C5-8FBD42CD7361}" type="slidenum">
              <a:rPr lang="id-ID" smtClean="0"/>
              <a:t>‹#›</a:t>
            </a:fld>
            <a:endParaRPr lang="id-ID"/>
          </a:p>
        </p:txBody>
      </p:sp>
    </p:spTree>
    <p:extLst>
      <p:ext uri="{BB962C8B-B14F-4D97-AF65-F5344CB8AC3E}">
        <p14:creationId xmlns:p14="http://schemas.microsoft.com/office/powerpoint/2010/main" val="3828435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id-ID"/>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64B72C-A3F9-4295-91E5-E6706FBC5F8D}" type="datetimeFigureOut">
              <a:rPr lang="id-ID" smtClean="0"/>
              <a:t>26/09/2024</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E03329-D4AF-479E-81C5-8FBD42CD7361}" type="slidenum">
              <a:rPr lang="id-ID" smtClean="0"/>
              <a:t>‹#›</a:t>
            </a:fld>
            <a:endParaRPr lang="id-ID"/>
          </a:p>
        </p:txBody>
      </p:sp>
    </p:spTree>
    <p:extLst>
      <p:ext uri="{BB962C8B-B14F-4D97-AF65-F5344CB8AC3E}">
        <p14:creationId xmlns:p14="http://schemas.microsoft.com/office/powerpoint/2010/main" val="26235198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youtu.be/-EXH9tyACNA?si=EhTOih9EmquXEXun" TargetMode="External"/><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youtu.be/e5oXeol8UGk?si=iQ0IU8hbylM_sLer" TargetMode="External"/><Relationship Id="rId2" Type="http://schemas.openxmlformats.org/officeDocument/2006/relationships/image" Target="../media/image2.jfif"/><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youtu.be/mh42U7QeKE8?si=UfwO-3LZYm-ugwxq" TargetMode="External"/><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youtu.be/tgtDF6GIhfY?si=q56tekidIDEmAKyA" TargetMode="External"/><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youtu.be/ynB1RePr2gc?si=lRc-aGa9kizH3O5D" TargetMode="External"/><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youtu.be/DPmbqrXSW4E?si=MrhAWsl8j9_Xa44M" TargetMode="External"/><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552" y="836712"/>
            <a:ext cx="7772400" cy="650503"/>
          </a:xfrm>
        </p:spPr>
        <p:txBody>
          <a:bodyPr>
            <a:normAutofit fontScale="90000"/>
          </a:bodyPr>
          <a:lstStyle/>
          <a:p>
            <a:r>
              <a:rPr lang="id-ID" b="1" dirty="0" smtClean="0"/>
              <a:t>Aplikasi komponen elektronika</a:t>
            </a:r>
            <a:endParaRPr lang="id-ID" b="1" dirty="0"/>
          </a:p>
        </p:txBody>
      </p:sp>
      <p:sp>
        <p:nvSpPr>
          <p:cNvPr id="3" name="Subtitle 2"/>
          <p:cNvSpPr>
            <a:spLocks noGrp="1"/>
          </p:cNvSpPr>
          <p:nvPr>
            <p:ph type="subTitle" idx="1"/>
          </p:nvPr>
        </p:nvSpPr>
        <p:spPr>
          <a:xfrm>
            <a:off x="323528" y="1772816"/>
            <a:ext cx="8352928" cy="4248472"/>
          </a:xfrm>
        </p:spPr>
        <p:txBody>
          <a:bodyPr>
            <a:normAutofit lnSpcReduction="10000"/>
          </a:bodyPr>
          <a:lstStyle/>
          <a:p>
            <a:r>
              <a:rPr lang="id-ID" sz="2800" dirty="0" smtClean="0">
                <a:latin typeface="Algerian" panose="04020705040A02060702" pitchFamily="82" charset="0"/>
              </a:rPr>
              <a:t>Kapasitor, dioda, dioda zaner, scr, triac, dan lc</a:t>
            </a:r>
          </a:p>
          <a:p>
            <a:endParaRPr lang="id-ID" sz="2400" dirty="0" smtClean="0">
              <a:latin typeface="+mj-lt"/>
            </a:endParaRPr>
          </a:p>
          <a:p>
            <a:r>
              <a:rPr lang="id-ID" sz="2400" dirty="0" smtClean="0">
                <a:latin typeface="+mj-lt"/>
              </a:rPr>
              <a:t>Kelompok : 5</a:t>
            </a:r>
          </a:p>
          <a:p>
            <a:pPr algn="l"/>
            <a:r>
              <a:rPr lang="id-ID" sz="2400" dirty="0" smtClean="0">
                <a:latin typeface="Tahoma" panose="020B0604030504040204" pitchFamily="34" charset="0"/>
                <a:ea typeface="Tahoma" panose="020B0604030504040204" pitchFamily="34" charset="0"/>
                <a:cs typeface="Tahoma" panose="020B0604030504040204" pitchFamily="34" charset="0"/>
              </a:rPr>
              <a:t>Ketua kelompok	: Joe Simorangkir (Nim 2330202100027)</a:t>
            </a:r>
          </a:p>
          <a:p>
            <a:pPr algn="l"/>
            <a:r>
              <a:rPr lang="id-ID" sz="2400" dirty="0" smtClean="0">
                <a:latin typeface="Tahoma" panose="020B0604030504040204" pitchFamily="34" charset="0"/>
                <a:ea typeface="Tahoma" panose="020B0604030504040204" pitchFamily="34" charset="0"/>
                <a:cs typeface="Tahoma" panose="020B0604030504040204" pitchFamily="34" charset="0"/>
              </a:rPr>
              <a:t>Anggota		:</a:t>
            </a:r>
          </a:p>
          <a:p>
            <a:pPr marL="514350" indent="-514350" algn="l">
              <a:buFont typeface="+mj-lt"/>
              <a:buAutoNum type="arabicPeriod"/>
            </a:pPr>
            <a:r>
              <a:rPr lang="id-ID" sz="2400" dirty="0" smtClean="0">
                <a:latin typeface="Tahoma" panose="020B0604030504040204" pitchFamily="34" charset="0"/>
                <a:ea typeface="Tahoma" panose="020B0604030504040204" pitchFamily="34" charset="0"/>
                <a:cs typeface="Tahoma" panose="020B0604030504040204" pitchFamily="34" charset="0"/>
              </a:rPr>
              <a:t>Sudarto simatupang</a:t>
            </a:r>
          </a:p>
          <a:p>
            <a:pPr marL="514350" indent="-514350" algn="l">
              <a:buFont typeface="+mj-lt"/>
              <a:buAutoNum type="arabicPeriod"/>
            </a:pPr>
            <a:r>
              <a:rPr lang="id-ID" sz="2400" dirty="0" smtClean="0">
                <a:latin typeface="Tahoma" panose="020B0604030504040204" pitchFamily="34" charset="0"/>
                <a:ea typeface="Tahoma" panose="020B0604030504040204" pitchFamily="34" charset="0"/>
                <a:cs typeface="Tahoma" panose="020B0604030504040204" pitchFamily="34" charset="0"/>
              </a:rPr>
              <a:t>Weldison sihombing</a:t>
            </a:r>
          </a:p>
          <a:p>
            <a:pPr marL="514350" indent="-514350" algn="l">
              <a:buFont typeface="+mj-lt"/>
              <a:buAutoNum type="arabicPeriod"/>
            </a:pPr>
            <a:r>
              <a:rPr lang="id-ID" sz="2400" smtClean="0">
                <a:latin typeface="Tahoma" panose="020B0604030504040204" pitchFamily="34" charset="0"/>
                <a:ea typeface="Tahoma" panose="020B0604030504040204" pitchFamily="34" charset="0"/>
                <a:cs typeface="Tahoma" panose="020B0604030504040204" pitchFamily="34" charset="0"/>
              </a:rPr>
              <a:t>Yudi </a:t>
            </a:r>
            <a:endParaRPr lang="id-ID" sz="2400" dirty="0" smtClean="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55903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4674"/>
            <a:ext cx="8229600" cy="706090"/>
          </a:xfrm>
        </p:spPr>
        <p:txBody>
          <a:bodyPr>
            <a:normAutofit fontScale="90000"/>
          </a:bodyPr>
          <a:lstStyle/>
          <a:p>
            <a:pPr algn="r"/>
            <a:r>
              <a:rPr lang="id-ID" dirty="0" smtClean="0"/>
              <a:t>Kapasitor 		</a:t>
            </a:r>
            <a:endParaRPr lang="id-ID" dirty="0"/>
          </a:p>
        </p:txBody>
      </p:sp>
      <p:sp>
        <p:nvSpPr>
          <p:cNvPr id="3" name="Content Placeholder 2"/>
          <p:cNvSpPr>
            <a:spLocks noGrp="1"/>
          </p:cNvSpPr>
          <p:nvPr>
            <p:ph idx="1"/>
          </p:nvPr>
        </p:nvSpPr>
        <p:spPr>
          <a:xfrm>
            <a:off x="457200" y="908720"/>
            <a:ext cx="8229600" cy="5217443"/>
          </a:xfrm>
        </p:spPr>
        <p:txBody>
          <a:bodyPr>
            <a:normAutofit fontScale="77500" lnSpcReduction="20000"/>
          </a:bodyPr>
          <a:lstStyle/>
          <a:p>
            <a:pPr marL="0" indent="0" algn="just">
              <a:buNone/>
            </a:pPr>
            <a:r>
              <a:rPr lang="id-ID" dirty="0" smtClean="0"/>
              <a:t>Defenisi: </a:t>
            </a:r>
          </a:p>
          <a:p>
            <a:pPr marL="0" indent="0" algn="just">
              <a:buNone/>
            </a:pPr>
            <a:r>
              <a:rPr lang="id-ID" sz="2800" dirty="0" smtClean="0"/>
              <a:t>Kapasitor adalah komponen elektronika pasif yang berfungsi menyimpan energi dalam medan listrik antara dua pelat konduktor.</a:t>
            </a:r>
          </a:p>
          <a:p>
            <a:pPr marL="0" indent="0" algn="just">
              <a:buNone/>
            </a:pPr>
            <a:r>
              <a:rPr lang="id-ID" dirty="0" smtClean="0"/>
              <a:t>Aplikasi:</a:t>
            </a:r>
          </a:p>
          <a:p>
            <a:pPr marL="0" indent="0" algn="just">
              <a:buNone/>
            </a:pPr>
            <a:r>
              <a:rPr lang="id-ID" sz="2800" dirty="0" smtClean="0"/>
              <a:t>Penyaringan (Filter): Kapasitor sering digunakan dalam catu daya untuk menyaring noise (gangguan) dari sinyal listrik, sehingga tegangan output lebih halus.</a:t>
            </a:r>
          </a:p>
          <a:p>
            <a:pPr marL="0" indent="0" algn="just">
              <a:buNone/>
            </a:pPr>
            <a:r>
              <a:rPr lang="id-ID" sz="2800" dirty="0" smtClean="0"/>
              <a:t>Kopling (Coupling): Dalam rangkaian audio atau komunikasi, kapasitor digunakan untuk mentransmisikan sinyal AC dari satu tahap rangkaian ke tahap berikutnya tanpa membawa komponen tegangan DC.</a:t>
            </a:r>
          </a:p>
          <a:p>
            <a:pPr marL="0" indent="0" algn="just">
              <a:buNone/>
            </a:pPr>
            <a:r>
              <a:rPr lang="id-ID" sz="2800" dirty="0" smtClean="0"/>
              <a:t>Penyimpanan Energi: Kapasitor digunakan dalam rangkaian penyangga (buffer) daya untuk menyimpan energi yang dilepaskan saat diperlukan, misalnya dalam kamera flash atau UPS.</a:t>
            </a:r>
          </a:p>
          <a:p>
            <a:pPr marL="0" indent="0" algn="just">
              <a:buNone/>
            </a:pPr>
            <a:r>
              <a:rPr lang="id-ID" sz="2800" dirty="0" smtClean="0"/>
              <a:t>Penghalus (Smoothing): Dalam rangkaian penyearah, kapasitor digunakan untuk mengurangi ripple (riak) tegangan pada tegangan output DC, membuat tegangan lebih stabil.</a:t>
            </a:r>
            <a:endParaRPr lang="id-ID" sz="2800" dirty="0"/>
          </a:p>
        </p:txBody>
      </p:sp>
    </p:spTree>
    <p:extLst>
      <p:ext uri="{BB962C8B-B14F-4D97-AF65-F5344CB8AC3E}">
        <p14:creationId xmlns:p14="http://schemas.microsoft.com/office/powerpoint/2010/main" val="1291677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5661248"/>
            <a:ext cx="8229600" cy="850106"/>
          </a:xfrm>
        </p:spPr>
        <p:txBody>
          <a:bodyPr>
            <a:normAutofit fontScale="90000"/>
          </a:bodyPr>
          <a:lstStyle/>
          <a:p>
            <a:r>
              <a:rPr lang="id-ID" dirty="0" smtClean="0"/>
              <a:t>Penjelasan dalam bentuk gambar dan link vidio</a:t>
            </a:r>
            <a:endParaRPr lang="id-ID" dirty="0"/>
          </a:p>
        </p:txBody>
      </p:sp>
      <p:pic>
        <p:nvPicPr>
          <p:cNvPr id="18" name="Content Placeholder 17"/>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23850" y="548680"/>
            <a:ext cx="4320158" cy="4536504"/>
          </a:xfrm>
        </p:spPr>
      </p:pic>
      <p:sp>
        <p:nvSpPr>
          <p:cNvPr id="17" name="Content Placeholder 16"/>
          <p:cNvSpPr>
            <a:spLocks noGrp="1"/>
          </p:cNvSpPr>
          <p:nvPr>
            <p:ph sz="half" idx="2"/>
          </p:nvPr>
        </p:nvSpPr>
        <p:spPr>
          <a:xfrm>
            <a:off x="4644008" y="980728"/>
            <a:ext cx="4038600" cy="4525963"/>
          </a:xfrm>
        </p:spPr>
        <p:txBody>
          <a:bodyPr/>
          <a:lstStyle/>
          <a:p>
            <a:r>
              <a:rPr lang="id-ID" dirty="0" smtClean="0">
                <a:hlinkClick r:id="rId3"/>
              </a:rPr>
              <a:t>https://youtu.be/-EXH9tyACNA?si=EhTOih9EmquXEXun</a:t>
            </a:r>
            <a:endParaRPr lang="id-ID" dirty="0" smtClean="0"/>
          </a:p>
          <a:p>
            <a:pPr marL="0" indent="0">
              <a:buNone/>
            </a:pPr>
            <a:endParaRPr lang="id-ID" dirty="0"/>
          </a:p>
        </p:txBody>
      </p:sp>
    </p:spTree>
    <p:extLst>
      <p:ext uri="{BB962C8B-B14F-4D97-AF65-F5344CB8AC3E}">
        <p14:creationId xmlns:p14="http://schemas.microsoft.com/office/powerpoint/2010/main" val="2196864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2960"/>
            <a:ext cx="8229600" cy="1143000"/>
          </a:xfrm>
        </p:spPr>
        <p:txBody>
          <a:bodyPr/>
          <a:lstStyle/>
          <a:p>
            <a:pPr algn="r"/>
            <a:r>
              <a:rPr lang="id-ID" dirty="0" smtClean="0"/>
              <a:t>Dioda 	</a:t>
            </a:r>
            <a:endParaRPr lang="id-ID" dirty="0"/>
          </a:p>
        </p:txBody>
      </p:sp>
      <p:sp>
        <p:nvSpPr>
          <p:cNvPr id="5" name="Content Placeholder 4"/>
          <p:cNvSpPr>
            <a:spLocks noGrp="1"/>
          </p:cNvSpPr>
          <p:nvPr>
            <p:ph idx="1"/>
          </p:nvPr>
        </p:nvSpPr>
        <p:spPr>
          <a:xfrm>
            <a:off x="467544" y="836712"/>
            <a:ext cx="8424936" cy="4525963"/>
          </a:xfrm>
        </p:spPr>
        <p:txBody>
          <a:bodyPr>
            <a:normAutofit fontScale="77500" lnSpcReduction="20000"/>
          </a:bodyPr>
          <a:lstStyle/>
          <a:p>
            <a:pPr marL="0" indent="0">
              <a:buNone/>
            </a:pPr>
            <a:r>
              <a:rPr lang="id-ID" dirty="0" smtClean="0"/>
              <a:t>Defenisi:</a:t>
            </a:r>
          </a:p>
          <a:p>
            <a:pPr marL="0" indent="0" algn="just">
              <a:buNone/>
            </a:pPr>
            <a:r>
              <a:rPr lang="id-ID" sz="2800" dirty="0" smtClean="0"/>
              <a:t>Dioda adalah komponen semikonduktor yang hanya memungkinkan arus mengalir dalam satu arah (forward bias), dan menghambat arus jika arah sebaliknya (reverse bias).</a:t>
            </a:r>
            <a:endParaRPr lang="id-ID" dirty="0" smtClean="0"/>
          </a:p>
          <a:p>
            <a:pPr marL="0" indent="0" algn="just">
              <a:buNone/>
            </a:pPr>
            <a:r>
              <a:rPr lang="id-ID" dirty="0" smtClean="0"/>
              <a:t>Aplikasi:</a:t>
            </a:r>
          </a:p>
          <a:p>
            <a:pPr marL="0" indent="0" algn="just">
              <a:buNone/>
            </a:pPr>
            <a:r>
              <a:rPr lang="id-ID" dirty="0" smtClean="0"/>
              <a:t>Penyearah (Rectifier): Dioda digunakan dalam penyearah untuk mengubah arus bolak-balik (AC) menjadi arus searah (DC). Misalnya, dalam adaptor daya dan charger.</a:t>
            </a:r>
          </a:p>
          <a:p>
            <a:pPr marL="0" indent="0" algn="just">
              <a:buNone/>
            </a:pPr>
            <a:r>
              <a:rPr lang="id-ID" dirty="0" smtClean="0"/>
              <a:t>Proteksi: Dalam rangkaian elektronika, dioda digunakan untuk mencegah arus balik yang bisa merusak komponen sensitif, seperti transistor atau IC.</a:t>
            </a:r>
          </a:p>
          <a:p>
            <a:pPr marL="0" indent="0" algn="just">
              <a:buNone/>
            </a:pPr>
            <a:r>
              <a:rPr lang="id-ID" dirty="0" smtClean="0"/>
              <a:t>Kopling Sinyal: Dioda juga bisa digunakan dalam sirkuit deteksi sinyal untuk memisahkan sinyal AC dari sinyal DC.</a:t>
            </a:r>
          </a:p>
        </p:txBody>
      </p:sp>
    </p:spTree>
    <p:extLst>
      <p:ext uri="{BB962C8B-B14F-4D97-AF65-F5344CB8AC3E}">
        <p14:creationId xmlns:p14="http://schemas.microsoft.com/office/powerpoint/2010/main" val="1815136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3528" y="274638"/>
            <a:ext cx="8496944" cy="778098"/>
          </a:xfrm>
        </p:spPr>
        <p:txBody>
          <a:bodyPr>
            <a:normAutofit fontScale="90000"/>
          </a:bodyPr>
          <a:lstStyle/>
          <a:p>
            <a:r>
              <a:rPr lang="id-ID" dirty="0" smtClean="0"/>
              <a:t>Penyertaan gambar dan link vidio penjelasan</a:t>
            </a:r>
            <a:endParaRPr lang="id-ID" dirty="0"/>
          </a:p>
        </p:txBody>
      </p:sp>
      <p:pic>
        <p:nvPicPr>
          <p:cNvPr id="7" name="Content Placeholder 6"/>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95536" y="1772816"/>
            <a:ext cx="3960440" cy="2160240"/>
          </a:xfrm>
        </p:spPr>
      </p:pic>
      <p:sp>
        <p:nvSpPr>
          <p:cNvPr id="6" name="Content Placeholder 5"/>
          <p:cNvSpPr>
            <a:spLocks noGrp="1"/>
          </p:cNvSpPr>
          <p:nvPr>
            <p:ph sz="half" idx="2"/>
          </p:nvPr>
        </p:nvSpPr>
        <p:spPr/>
        <p:txBody>
          <a:bodyPr/>
          <a:lstStyle/>
          <a:p>
            <a:pPr marL="0" indent="0">
              <a:buNone/>
            </a:pPr>
            <a:r>
              <a:rPr lang="id-ID" dirty="0" smtClean="0">
                <a:hlinkClick r:id="rId3"/>
              </a:rPr>
              <a:t>https://youtu.be/e5oXeol8UGk?si=iQ0IU8hbylM_sLer</a:t>
            </a:r>
            <a:endParaRPr lang="id-ID" dirty="0" smtClean="0"/>
          </a:p>
          <a:p>
            <a:pPr marL="0" indent="0">
              <a:buNone/>
            </a:pPr>
            <a:endParaRPr lang="id-ID" dirty="0"/>
          </a:p>
        </p:txBody>
      </p:sp>
    </p:spTree>
    <p:extLst>
      <p:ext uri="{BB962C8B-B14F-4D97-AF65-F5344CB8AC3E}">
        <p14:creationId xmlns:p14="http://schemas.microsoft.com/office/powerpoint/2010/main" val="1689431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id-ID" dirty="0" smtClean="0"/>
              <a:t>Dioda zenner		</a:t>
            </a:r>
            <a:endParaRPr lang="id-ID" dirty="0"/>
          </a:p>
        </p:txBody>
      </p:sp>
      <p:sp>
        <p:nvSpPr>
          <p:cNvPr id="5" name="Content Placeholder 4"/>
          <p:cNvSpPr>
            <a:spLocks noGrp="1"/>
          </p:cNvSpPr>
          <p:nvPr>
            <p:ph idx="1"/>
          </p:nvPr>
        </p:nvSpPr>
        <p:spPr>
          <a:xfrm>
            <a:off x="467544" y="1340768"/>
            <a:ext cx="8229600" cy="4752528"/>
          </a:xfrm>
        </p:spPr>
        <p:txBody>
          <a:bodyPr>
            <a:normAutofit fontScale="62500" lnSpcReduction="20000"/>
          </a:bodyPr>
          <a:lstStyle/>
          <a:p>
            <a:pPr marL="0" indent="0">
              <a:buNone/>
            </a:pPr>
            <a:r>
              <a:rPr lang="id-ID" dirty="0" smtClean="0"/>
              <a:t>Defenisi:</a:t>
            </a:r>
          </a:p>
          <a:p>
            <a:pPr marL="0" indent="0">
              <a:buNone/>
            </a:pPr>
            <a:r>
              <a:rPr lang="id-ID" sz="3400" dirty="0" smtClean="0"/>
              <a:t>Dioda Zener adalah jenis dioda khusus yang dapat beroperasi dalam kondisi reverse bias ketika tegangan mencapai nilai breakdown Zener, tanpa merusak komponen.</a:t>
            </a:r>
          </a:p>
          <a:p>
            <a:pPr marL="0" indent="0">
              <a:buNone/>
            </a:pPr>
            <a:r>
              <a:rPr lang="id-ID" dirty="0" smtClean="0"/>
              <a:t>Aplikasi:</a:t>
            </a:r>
          </a:p>
          <a:p>
            <a:pPr marL="0" indent="0">
              <a:buNone/>
            </a:pPr>
            <a:r>
              <a:rPr lang="id-ID" sz="3400" dirty="0" smtClean="0"/>
              <a:t>Pengatur Tegangan (Voltage Regulation): Dioda Zener digunakan dalam rangkaian regulator untuk menjaga tegangan pada level yang tetap, meskipun terjadi fluktuasi pada tegangan input. Ini sering ditemukan dalam power supply yang menjaga tegangan output stabil.</a:t>
            </a:r>
          </a:p>
          <a:p>
            <a:pPr marL="0" indent="0">
              <a:buNone/>
            </a:pPr>
            <a:r>
              <a:rPr lang="id-ID" sz="3400" dirty="0" smtClean="0"/>
              <a:t>Proteksi Berlebih (Overvoltage Protection): Jika tegangan melampaui batas tertentu, dioda Zener dapat menyerap tegangan berlebih untuk melindungi komponen lain dalam rangkaian.Clamping Circuit: Dioda Zener digunakan untuk membatasi tegangan di node tertentu dalam rangkaian, sehingga melindungi perangkat dari lonjakan tegangan.</a:t>
            </a:r>
          </a:p>
        </p:txBody>
      </p:sp>
    </p:spTree>
    <p:extLst>
      <p:ext uri="{BB962C8B-B14F-4D97-AF65-F5344CB8AC3E}">
        <p14:creationId xmlns:p14="http://schemas.microsoft.com/office/powerpoint/2010/main" val="3779230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95536" y="5373216"/>
            <a:ext cx="8229600" cy="1143000"/>
          </a:xfrm>
        </p:spPr>
        <p:txBody>
          <a:bodyPr/>
          <a:lstStyle/>
          <a:p>
            <a:r>
              <a:rPr lang="id-ID" dirty="0" smtClean="0"/>
              <a:t>Link vidio penjelasan dan gambar</a:t>
            </a:r>
            <a:endParaRPr lang="id-ID" dirty="0"/>
          </a:p>
        </p:txBody>
      </p:sp>
      <p:pic>
        <p:nvPicPr>
          <p:cNvPr id="7" name="Content Placeholder 6"/>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95288" y="1536442"/>
            <a:ext cx="4038600" cy="2694503"/>
          </a:xfrm>
        </p:spPr>
      </p:pic>
      <p:sp>
        <p:nvSpPr>
          <p:cNvPr id="6" name="Content Placeholder 5"/>
          <p:cNvSpPr>
            <a:spLocks noGrp="1"/>
          </p:cNvSpPr>
          <p:nvPr>
            <p:ph sz="half" idx="2"/>
          </p:nvPr>
        </p:nvSpPr>
        <p:spPr>
          <a:xfrm>
            <a:off x="4644008" y="620688"/>
            <a:ext cx="4038600" cy="4525963"/>
          </a:xfrm>
        </p:spPr>
        <p:txBody>
          <a:bodyPr/>
          <a:lstStyle/>
          <a:p>
            <a:pPr marL="0" indent="0">
              <a:buNone/>
            </a:pPr>
            <a:r>
              <a:rPr lang="id-ID" dirty="0" smtClean="0">
                <a:hlinkClick r:id="rId3"/>
              </a:rPr>
              <a:t>https://youtu.be/mh42U7QeKE8?si=UfwO-3LZYm-ugwxq</a:t>
            </a:r>
            <a:endParaRPr lang="id-ID" dirty="0" smtClean="0"/>
          </a:p>
          <a:p>
            <a:pPr marL="0" indent="0">
              <a:buNone/>
            </a:pPr>
            <a:endParaRPr lang="id-ID" dirty="0"/>
          </a:p>
        </p:txBody>
      </p:sp>
    </p:spTree>
    <p:extLst>
      <p:ext uri="{BB962C8B-B14F-4D97-AF65-F5344CB8AC3E}">
        <p14:creationId xmlns:p14="http://schemas.microsoft.com/office/powerpoint/2010/main" val="4221712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706090"/>
          </a:xfrm>
        </p:spPr>
        <p:txBody>
          <a:bodyPr>
            <a:normAutofit fontScale="90000"/>
          </a:bodyPr>
          <a:lstStyle/>
          <a:p>
            <a:r>
              <a:rPr lang="id-ID" dirty="0" smtClean="0"/>
              <a:t>SCR (Silicon Controlled Rectifier)</a:t>
            </a:r>
            <a:endParaRPr lang="id-ID" dirty="0"/>
          </a:p>
        </p:txBody>
      </p:sp>
      <p:sp>
        <p:nvSpPr>
          <p:cNvPr id="6" name="Content Placeholder 5"/>
          <p:cNvSpPr>
            <a:spLocks noGrp="1"/>
          </p:cNvSpPr>
          <p:nvPr>
            <p:ph idx="1"/>
          </p:nvPr>
        </p:nvSpPr>
        <p:spPr/>
        <p:txBody>
          <a:bodyPr>
            <a:normAutofit fontScale="77500" lnSpcReduction="20000"/>
          </a:bodyPr>
          <a:lstStyle/>
          <a:p>
            <a:pPr marL="0" indent="0">
              <a:buNone/>
            </a:pPr>
            <a:r>
              <a:rPr lang="id-ID" dirty="0" smtClean="0"/>
              <a:t>Defenisi:</a:t>
            </a:r>
          </a:p>
          <a:p>
            <a:pPr marL="0" indent="0">
              <a:buNone/>
            </a:pPr>
            <a:r>
              <a:rPr lang="id-ID" sz="2800" dirty="0" smtClean="0"/>
              <a:t>SCR adalah semikonduktor tiga terminal yang bertindak sebagai sakelar yang hanya dapat diaktifkan oleh sinyal pemicu (gate) dan akan tetap aktif sampai arus dihentikan atau input tegangan hilang.</a:t>
            </a:r>
          </a:p>
          <a:p>
            <a:pPr marL="0" indent="0">
              <a:buNone/>
            </a:pPr>
            <a:r>
              <a:rPr lang="id-ID" sz="2800" dirty="0" smtClean="0"/>
              <a:t>Aplikasi:</a:t>
            </a:r>
          </a:p>
          <a:p>
            <a:pPr marL="0" indent="0">
              <a:buNone/>
            </a:pPr>
            <a:r>
              <a:rPr lang="id-ID" sz="2800" dirty="0" smtClean="0"/>
              <a:t>Kontrol Daya: SCR banyak digunakan dalam pengendalian daya, seperti pada dimmer lampu dan kontrol motor. Misalnya, pada kontrol kecepatan motor DC.</a:t>
            </a:r>
          </a:p>
          <a:p>
            <a:pPr marL="0" indent="0">
              <a:buNone/>
            </a:pPr>
            <a:r>
              <a:rPr lang="id-ID" sz="2800" dirty="0" smtClean="0"/>
              <a:t>Pengubah Fase (Phase Control): SCR sering digunakan dalam aplikasi AC, seperti pengontrol heater, di mana kita dapat mengontrol seberapa besar daya yang diberikan dengan memanipulasi fase arus AC.</a:t>
            </a:r>
          </a:p>
          <a:p>
            <a:pPr marL="0" indent="0">
              <a:buNone/>
            </a:pPr>
            <a:r>
              <a:rPr lang="id-ID" sz="2800" dirty="0" smtClean="0"/>
              <a:t>Pemicu Tegangan Tinggi: Dalam aplikasi yang membutuhkan tegangan tinggi untuk memulai operasi, seperti lampu flash pada kamera, SCR digunakan untuk memicu pelepasan energi yang cepat dan terkontrol.</a:t>
            </a:r>
            <a:endParaRPr lang="id-ID" sz="2800" dirty="0"/>
          </a:p>
        </p:txBody>
      </p:sp>
    </p:spTree>
    <p:extLst>
      <p:ext uri="{BB962C8B-B14F-4D97-AF65-F5344CB8AC3E}">
        <p14:creationId xmlns:p14="http://schemas.microsoft.com/office/powerpoint/2010/main" val="84297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562074"/>
          </a:xfrm>
        </p:spPr>
        <p:txBody>
          <a:bodyPr>
            <a:normAutofit fontScale="90000"/>
          </a:bodyPr>
          <a:lstStyle/>
          <a:p>
            <a:r>
              <a:rPr lang="id-ID" dirty="0" smtClean="0"/>
              <a:t>Gambar dan link vidio</a:t>
            </a:r>
            <a:endParaRPr lang="id-ID" dirty="0"/>
          </a:p>
        </p:txBody>
      </p:sp>
      <p:pic>
        <p:nvPicPr>
          <p:cNvPr id="7" name="Content Placeholder 6"/>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57200" y="2685256"/>
            <a:ext cx="4038600" cy="2355850"/>
          </a:xfrm>
        </p:spPr>
      </p:pic>
      <p:sp>
        <p:nvSpPr>
          <p:cNvPr id="6" name="Content Placeholder 5"/>
          <p:cNvSpPr>
            <a:spLocks noGrp="1"/>
          </p:cNvSpPr>
          <p:nvPr>
            <p:ph sz="half" idx="2"/>
          </p:nvPr>
        </p:nvSpPr>
        <p:spPr/>
        <p:txBody>
          <a:bodyPr/>
          <a:lstStyle/>
          <a:p>
            <a:pPr marL="0" indent="0">
              <a:buNone/>
            </a:pPr>
            <a:endParaRPr lang="id-ID" dirty="0" smtClean="0"/>
          </a:p>
          <a:p>
            <a:pPr marL="0" indent="0">
              <a:buNone/>
            </a:pPr>
            <a:endParaRPr lang="id-ID" dirty="0"/>
          </a:p>
          <a:p>
            <a:pPr marL="0" indent="0">
              <a:buNone/>
            </a:pPr>
            <a:endParaRPr lang="id-ID" dirty="0" smtClean="0"/>
          </a:p>
          <a:p>
            <a:pPr marL="0" indent="0">
              <a:buNone/>
            </a:pPr>
            <a:r>
              <a:rPr lang="id-ID" dirty="0" smtClean="0">
                <a:hlinkClick r:id="rId3"/>
              </a:rPr>
              <a:t>https://youtu.be/tgtDF6GIhfY?si=q56tekidIDEmAKyA</a:t>
            </a:r>
            <a:endParaRPr lang="id-ID" dirty="0" smtClean="0"/>
          </a:p>
          <a:p>
            <a:pPr marL="0" indent="0">
              <a:buNone/>
            </a:pPr>
            <a:endParaRPr lang="id-ID" dirty="0"/>
          </a:p>
        </p:txBody>
      </p:sp>
    </p:spTree>
    <p:extLst>
      <p:ext uri="{BB962C8B-B14F-4D97-AF65-F5344CB8AC3E}">
        <p14:creationId xmlns:p14="http://schemas.microsoft.com/office/powerpoint/2010/main" val="1369952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id-ID" dirty="0" smtClean="0"/>
              <a:t>TRIAC						</a:t>
            </a:r>
            <a:endParaRPr lang="id-ID" dirty="0"/>
          </a:p>
        </p:txBody>
      </p:sp>
      <p:sp>
        <p:nvSpPr>
          <p:cNvPr id="5" name="Content Placeholder 4"/>
          <p:cNvSpPr>
            <a:spLocks noGrp="1"/>
          </p:cNvSpPr>
          <p:nvPr>
            <p:ph idx="1"/>
          </p:nvPr>
        </p:nvSpPr>
        <p:spPr/>
        <p:txBody>
          <a:bodyPr>
            <a:normAutofit fontScale="62500" lnSpcReduction="20000"/>
          </a:bodyPr>
          <a:lstStyle/>
          <a:p>
            <a:pPr marL="0" indent="0">
              <a:buNone/>
            </a:pPr>
            <a:r>
              <a:rPr lang="id-ID" dirty="0" smtClean="0"/>
              <a:t>Defenisi:</a:t>
            </a:r>
          </a:p>
          <a:p>
            <a:pPr marL="0" indent="0">
              <a:buNone/>
            </a:pPr>
            <a:r>
              <a:rPr lang="id-ID" dirty="0" smtClean="0"/>
              <a:t>TRIAC (Triode for Alternating Current) adalah komponen semikonduktor yang berfungsi sebagai sakelar elektronik untuk arus bolak-balik (AC). Berbeda dengan SCR yang hanya mengalirkan arus dalam satu arah, TRIAC mampu mengalirkan arus di kedua arah, baik positif maupun negatif. Hal ini memungkinkan TRIAC untuk mengontrol daya pada beban AC dengan lebih fleksibel. TRIAC dapat diaktifkan oleh sinyal pemicu (gate) dan tetap menghantarkan arus selama ada tegangan antara terminal utama (MT1 dan MT2), baik pada siklus positif maupun negatif dari sinyal AC.</a:t>
            </a:r>
          </a:p>
          <a:p>
            <a:pPr marL="0" indent="0">
              <a:buNone/>
            </a:pPr>
            <a:r>
              <a:rPr lang="id-ID" sz="2800" dirty="0" smtClean="0"/>
              <a:t>Aplikasi:</a:t>
            </a:r>
          </a:p>
          <a:p>
            <a:pPr marL="0" indent="0">
              <a:buNone/>
            </a:pPr>
            <a:r>
              <a:rPr lang="id-ID" sz="2900" dirty="0" smtClean="0"/>
              <a:t>Dimmer Lampu: TRIAC digunakan dalam kontrol kecerahan lampu dengan mengatur sudut fase dari gelombang tegangan AC.</a:t>
            </a:r>
          </a:p>
          <a:p>
            <a:pPr marL="0" indent="0">
              <a:buNone/>
            </a:pPr>
            <a:r>
              <a:rPr lang="id-ID" sz="2900" dirty="0" smtClean="0"/>
              <a:t>Kontrol Kecepatan Motor: TRIAC digunakan dalam peralatan rumah tangga untuk mengontrol kecepatan motor AC, misalnya dalam kipas angin atau mesin cuci.</a:t>
            </a:r>
          </a:p>
          <a:p>
            <a:pPr marL="0" indent="0">
              <a:buNone/>
            </a:pPr>
            <a:r>
              <a:rPr lang="id-ID" sz="2900" dirty="0" smtClean="0"/>
              <a:t>Sakelar Daya AC: TRIAC juga berfungsi sebagai sakelar untuk mengontrol daya yang diterima oleh peralatan-peralatan AC, terutama pada peralatan industri atau rumah tangga yang menggunakan listrik AC.</a:t>
            </a:r>
            <a:endParaRPr lang="id-ID" sz="2900" dirty="0"/>
          </a:p>
        </p:txBody>
      </p:sp>
    </p:spTree>
    <p:extLst>
      <p:ext uri="{BB962C8B-B14F-4D97-AF65-F5344CB8AC3E}">
        <p14:creationId xmlns:p14="http://schemas.microsoft.com/office/powerpoint/2010/main" val="1116258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id-ID" dirty="0" smtClean="0"/>
              <a:t>Gambar dan link vidio</a:t>
            </a:r>
            <a:endParaRPr lang="id-ID" dirty="0"/>
          </a:p>
        </p:txBody>
      </p:sp>
      <p:pic>
        <p:nvPicPr>
          <p:cNvPr id="8" name="Content Placeholder 7"/>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457200" y="2728140"/>
            <a:ext cx="4038600" cy="2270083"/>
          </a:xfrm>
        </p:spPr>
      </p:pic>
      <p:sp>
        <p:nvSpPr>
          <p:cNvPr id="6" name="Content Placeholder 5"/>
          <p:cNvSpPr>
            <a:spLocks noGrp="1"/>
          </p:cNvSpPr>
          <p:nvPr>
            <p:ph sz="half" idx="2"/>
          </p:nvPr>
        </p:nvSpPr>
        <p:spPr/>
        <p:txBody>
          <a:bodyPr/>
          <a:lstStyle/>
          <a:p>
            <a:pPr marL="0" indent="0">
              <a:buNone/>
            </a:pPr>
            <a:endParaRPr lang="id-ID" dirty="0"/>
          </a:p>
          <a:p>
            <a:pPr marL="0" indent="0">
              <a:buNone/>
            </a:pPr>
            <a:endParaRPr lang="id-ID" dirty="0" smtClean="0"/>
          </a:p>
          <a:p>
            <a:pPr marL="0" indent="0">
              <a:buNone/>
            </a:pPr>
            <a:endParaRPr lang="id-ID" dirty="0"/>
          </a:p>
          <a:p>
            <a:pPr marL="0" indent="0">
              <a:buNone/>
            </a:pPr>
            <a:r>
              <a:rPr lang="id-ID" smtClean="0">
                <a:hlinkClick r:id="rId3"/>
              </a:rPr>
              <a:t>https://youtu.be/ynB1RePr2gc?si=lRc-aGa9kizH3O5D</a:t>
            </a:r>
            <a:endParaRPr lang="id-ID" smtClean="0"/>
          </a:p>
          <a:p>
            <a:pPr marL="0" indent="0">
              <a:buNone/>
            </a:pPr>
            <a:endParaRPr lang="id-ID"/>
          </a:p>
        </p:txBody>
      </p:sp>
    </p:spTree>
    <p:extLst>
      <p:ext uri="{BB962C8B-B14F-4D97-AF65-F5344CB8AC3E}">
        <p14:creationId xmlns:p14="http://schemas.microsoft.com/office/powerpoint/2010/main" val="917652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634082"/>
          </a:xfrm>
        </p:spPr>
        <p:txBody>
          <a:bodyPr>
            <a:normAutofit fontScale="90000"/>
          </a:bodyPr>
          <a:lstStyle/>
          <a:p>
            <a:r>
              <a:rPr lang="id-ID" dirty="0"/>
              <a:t>IC (Integrated Circuit)</a:t>
            </a:r>
          </a:p>
        </p:txBody>
      </p:sp>
      <p:sp>
        <p:nvSpPr>
          <p:cNvPr id="6" name="Content Placeholder 5"/>
          <p:cNvSpPr>
            <a:spLocks noGrp="1"/>
          </p:cNvSpPr>
          <p:nvPr>
            <p:ph idx="1"/>
          </p:nvPr>
        </p:nvSpPr>
        <p:spPr>
          <a:xfrm>
            <a:off x="457200" y="836712"/>
            <a:ext cx="8363272" cy="5472608"/>
          </a:xfrm>
        </p:spPr>
        <p:txBody>
          <a:bodyPr>
            <a:noAutofit/>
          </a:bodyPr>
          <a:lstStyle/>
          <a:p>
            <a:pPr marL="0" indent="0">
              <a:buNone/>
            </a:pPr>
            <a:r>
              <a:rPr lang="id-ID" sz="2000" dirty="0" smtClean="0"/>
              <a:t>Defenisi:</a:t>
            </a:r>
          </a:p>
          <a:p>
            <a:pPr marL="0" indent="0">
              <a:buNone/>
            </a:pPr>
            <a:r>
              <a:rPr lang="id-ID" sz="1800" dirty="0"/>
              <a:t>IC (Integrated Circuit) adalah sirkuit elektronik miniatur yang mengintegrasikan sejumlah besar komponen elektronik, seperti transistor, dioda, resistor, dan kapasitor, ke dalam satu chip kecil. IC memungkinkan penggabungan fungsi-fungsi yang kompleks, seperti pengolahan sinyal, pengaturan logika, dan kontrol daya, yang tidak dapat dilakukan oleh komponen diskret dengan ukuran yang sama. IC digunakan secara luas dalam berbagai perangkat elektronik modern, mulai dari komputer, smartphone, hingga peralatan rumah tangga. IC tersedia dalam berbagai jenis, seperti mikroprosesor, regulator tegangan, dan penguat </a:t>
            </a:r>
            <a:r>
              <a:rPr lang="id-ID" sz="1800" dirty="0" smtClean="0"/>
              <a:t>sinyal.</a:t>
            </a:r>
          </a:p>
          <a:p>
            <a:pPr marL="0" indent="0">
              <a:buNone/>
            </a:pPr>
            <a:r>
              <a:rPr lang="id-ID" sz="1800" dirty="0" smtClean="0"/>
              <a:t>Aplikasi:</a:t>
            </a:r>
          </a:p>
          <a:p>
            <a:pPr marL="0" indent="0">
              <a:buNone/>
            </a:pPr>
            <a:r>
              <a:rPr lang="id-ID" sz="1800" dirty="0"/>
              <a:t>Prosesor: IC digunakan sebagai mikroprosesor dalam komputer, smartphone, dan perangkat elektronik lainnya. Prosesor bertanggung jawab atas eksekusi instruksi dan pengolahan data</a:t>
            </a:r>
            <a:r>
              <a:rPr lang="id-ID" sz="1800" dirty="0" smtClean="0"/>
              <a:t>.</a:t>
            </a:r>
          </a:p>
          <a:p>
            <a:pPr marL="0" indent="0">
              <a:buNone/>
            </a:pPr>
            <a:r>
              <a:rPr lang="id-ID" sz="1800" dirty="0" smtClean="0"/>
              <a:t>Regulator </a:t>
            </a:r>
            <a:r>
              <a:rPr lang="id-ID" sz="1800" dirty="0"/>
              <a:t>Tegangan: Banyak IC yang dirancang untuk mengatur tegangan di dalam rangkaian elektronik, memastikan tegangan output stabil untuk menghindari kerusakan komponen</a:t>
            </a:r>
            <a:r>
              <a:rPr lang="id-ID" sz="1800" dirty="0" smtClean="0"/>
              <a:t>.</a:t>
            </a:r>
          </a:p>
          <a:p>
            <a:pPr marL="0" indent="0">
              <a:buNone/>
            </a:pPr>
            <a:r>
              <a:rPr lang="id-ID" sz="1800" dirty="0" smtClean="0"/>
              <a:t>Penguat </a:t>
            </a:r>
            <a:r>
              <a:rPr lang="id-ID" sz="1800" dirty="0"/>
              <a:t>(Amplifier): IC amplifier digunakan dalam rangkaian audio untuk memperkuat sinyal suara, misalnya dalam speaker, headphone, atau sistem stereo.</a:t>
            </a:r>
          </a:p>
        </p:txBody>
      </p:sp>
    </p:spTree>
    <p:extLst>
      <p:ext uri="{BB962C8B-B14F-4D97-AF65-F5344CB8AC3E}">
        <p14:creationId xmlns:p14="http://schemas.microsoft.com/office/powerpoint/2010/main" val="97244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79512" y="404664"/>
            <a:ext cx="8784976" cy="648072"/>
          </a:xfrm>
        </p:spPr>
        <p:txBody>
          <a:bodyPr>
            <a:normAutofit fontScale="90000"/>
          </a:bodyPr>
          <a:lstStyle/>
          <a:p>
            <a:r>
              <a:rPr lang="id-ID" dirty="0" smtClean="0"/>
              <a:t>Gambar IC dan penjelasan dalam bentuk vidio</a:t>
            </a:r>
            <a:endParaRPr lang="id-ID" dirty="0"/>
          </a:p>
        </p:txBody>
      </p:sp>
      <p:pic>
        <p:nvPicPr>
          <p:cNvPr id="7" name="Content Placeholder 6"/>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79512" y="1628800"/>
            <a:ext cx="4176464" cy="3888432"/>
          </a:xfrm>
        </p:spPr>
      </p:pic>
      <p:sp>
        <p:nvSpPr>
          <p:cNvPr id="6" name="Content Placeholder 5"/>
          <p:cNvSpPr>
            <a:spLocks noGrp="1"/>
          </p:cNvSpPr>
          <p:nvPr>
            <p:ph sz="half" idx="2"/>
          </p:nvPr>
        </p:nvSpPr>
        <p:spPr/>
        <p:txBody>
          <a:bodyPr/>
          <a:lstStyle/>
          <a:p>
            <a:r>
              <a:rPr lang="id-ID" dirty="0">
                <a:hlinkClick r:id="rId3"/>
              </a:rPr>
              <a:t>https://</a:t>
            </a:r>
            <a:r>
              <a:rPr lang="id-ID" dirty="0" smtClean="0">
                <a:hlinkClick r:id="rId3"/>
              </a:rPr>
              <a:t>youtu.be/DPmbqrXSW4E?si=MrhAWsl8j9_Xa44M</a:t>
            </a:r>
            <a:endParaRPr lang="id-ID" dirty="0" smtClean="0"/>
          </a:p>
          <a:p>
            <a:endParaRPr lang="id-ID" dirty="0"/>
          </a:p>
        </p:txBody>
      </p:sp>
    </p:spTree>
    <p:extLst>
      <p:ext uri="{BB962C8B-B14F-4D97-AF65-F5344CB8AC3E}">
        <p14:creationId xmlns:p14="http://schemas.microsoft.com/office/powerpoint/2010/main" val="676572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id-ID" dirty="0" smtClean="0"/>
              <a:t>Sekian dan terimakasih</a:t>
            </a:r>
            <a:endParaRPr lang="id-ID" dirty="0"/>
          </a:p>
        </p:txBody>
      </p:sp>
      <p:sp>
        <p:nvSpPr>
          <p:cNvPr id="8" name="Content Placeholder 7"/>
          <p:cNvSpPr>
            <a:spLocks noGrp="1"/>
          </p:cNvSpPr>
          <p:nvPr>
            <p:ph idx="1"/>
          </p:nvPr>
        </p:nvSpPr>
        <p:spPr/>
        <p:txBody>
          <a:bodyPr/>
          <a:lstStyle/>
          <a:p>
            <a:pPr marL="0" indent="0">
              <a:buNone/>
            </a:pPr>
            <a:r>
              <a:rPr lang="id-ID" dirty="0" smtClean="0"/>
              <a:t>Jika ada yang kurang dipahami</a:t>
            </a:r>
          </a:p>
          <a:p>
            <a:pPr marL="0" indent="0">
              <a:buNone/>
            </a:pPr>
            <a:r>
              <a:rPr lang="id-ID" dirty="0" smtClean="0"/>
              <a:t>Mohon bertanya dan memberikan masukan</a:t>
            </a:r>
          </a:p>
          <a:p>
            <a:pPr marL="0" indent="0">
              <a:buNone/>
            </a:pPr>
            <a:r>
              <a:rPr lang="id-ID" dirty="0" smtClean="0"/>
              <a:t>Agar kami dapat mengembangkan lebih baiknya lagi......</a:t>
            </a:r>
            <a:endParaRPr lang="id-ID" dirty="0"/>
          </a:p>
        </p:txBody>
      </p:sp>
    </p:spTree>
    <p:extLst>
      <p:ext uri="{BB962C8B-B14F-4D97-AF65-F5344CB8AC3E}">
        <p14:creationId xmlns:p14="http://schemas.microsoft.com/office/powerpoint/2010/main" val="12652300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TotalTime>
  <Words>926</Words>
  <Application>Microsoft Office PowerPoint</Application>
  <PresentationFormat>On-screen Show (4:3)</PresentationFormat>
  <Paragraphs>73</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Aplikasi komponen elektronika</vt:lpstr>
      <vt:lpstr>Kapasitor   </vt:lpstr>
      <vt:lpstr>Penjelasan dalam bentuk gambar dan link vidio</vt:lpstr>
      <vt:lpstr>Dioda  </vt:lpstr>
      <vt:lpstr>Penyertaan gambar dan link vidio penjelasan</vt:lpstr>
      <vt:lpstr>Dioda zenner  </vt:lpstr>
      <vt:lpstr>Link vidio penjelasan dan gambar</vt:lpstr>
      <vt:lpstr>SCR (Silicon Controlled Rectifier)</vt:lpstr>
      <vt:lpstr>Gambar dan link vidio</vt:lpstr>
      <vt:lpstr>TRIAC      </vt:lpstr>
      <vt:lpstr>Gambar dan link vidio</vt:lpstr>
      <vt:lpstr>IC (Integrated Circuit)</vt:lpstr>
      <vt:lpstr>Gambar IC dan penjelasan dalam bentuk vidio</vt:lpstr>
      <vt:lpstr>Sekian dan terimakasih</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Aplikasi komponen elektronika</dc:title>
  <dc:creator>JOE</dc:creator>
  <cp:lastModifiedBy>JOE</cp:lastModifiedBy>
  <cp:revision>12</cp:revision>
  <dcterms:created xsi:type="dcterms:W3CDTF">2024-09-20T03:54:53Z</dcterms:created>
  <dcterms:modified xsi:type="dcterms:W3CDTF">2024-09-26T10:26:06Z</dcterms:modified>
</cp:coreProperties>
</file>